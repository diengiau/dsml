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8" d="100"/>
          <a:sy n="148" d="100"/>
        </p:scale>
        <p:origin x="45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283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PLAN (90 min):
  Opening + motivation (2-5): 10 min
  Part 1 project structure (6-12): 20 min
  Part 2 script vs document (13-18): 20 min
  Part 3 markdown and outputs (19-26): 25 min
  Exercise (27): 10 min
  Ground rules + close (28-29): 5 min
For a 60-min version: cut slides 11, 18, 23 and 25, and set the exercise as homework.
This session follows the version control lecture. Assume students have Git and an RStudio Project working.
Have them open RStudio now so they can build the folder structure alongside you in Part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could you rerun the analysis you did last term, today, on a different laptop?
Almost nobody can. Then make the point that the causes are mundane, not technical.
Every item on the left is fixable in about ten minutes of setup at the start of a project.
Frame it as professional risk: in a business setting, an analysis you cannot rerun is an analysis you cannot defend.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It is the diagnosis that the rest of the lecture treats.
The copy-paste arrows are where the drift happens: the moment a number is pasted into Word,
it stops being connected to the code that produced it.
Ask the class how many of them have pasted a chart into a slide deck and then changed the analysis. Most will admit it.
Preview the fix: remove the manual arrows entirely, so the report is generated rather than assembled.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Everything that follows is an answer to it.
Read the four outcomes aloud. Outcome 4 is the one assessed in the group project.
Note that 'by anyone' includes future you, who will remember nothing.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map. Each part answers a different question, and they build on each other.
Tell them Part 3 is where the payoff is, so the first two parts are worth the patience.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part practical. Have students build the folder alongside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here: self-contained, and an obvious way in.
Self-contained means nothing the project needs sits outside the folder. No file on your Desktop.
The obvious entry point is the README: it tells a stranger what to run and in what order.
Connect back to last week: this folder is exactly the thing you put under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screen and leave it up while students create the folders.
The exact names matter less than being consistent and separating inputs, code, and outputs.
Point out that outputs/ is in .gitignore: it is regenerated, so committing it just creates merge conflicts.
Mention that data/raw is often gitignored too if the files are large — link back to last week.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valuable rule on the slide deck. State it flatly.
Students routinely open a CSV in Excel, fix a few cells, and save over it. That destroys reproducibility silently,
because the cleaning is now invisible and unrepeatable.
The rule: if you had to change the data, the change belongs in a script, not in Excel.
A good habit is to set the raw files to read-only in the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if you can: show a script with setwd() and ask whose laptop it will run on. Only one.
The .Rproj file makes the project root the working directory, which is most of the fix.
here::here() finishes the job by building paths from the project root, and it handles the
Windows backslash / Mac forward slash difference for you.
Rule to repeat: setwd() should never appear in a script you share.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SKIPPABLE IF SHORT ON TIME.
Small habit, large payoff. The number is documentation that cannot fall out of date.
Point out the naming pattern: number, then a verb describing what the script does.
The run-all script at the bottom is what makes the project one-command reproducible — flag it as the goal.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files students always skip, and the two that decide whether the project survives contact with anyone else.
The README is for humans; the lockfile is for machines. You need both.
On renv: explain package drift in one sentence — code that ran fine last year now gives different numbers
because a package changed underneath it. renv.lock records the exact versions.
Commit renv.lock; gitignore renv/library/, which is just the installed copy on your machine.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RStudio for this part if you can. Show a .R file and a .qmd file side by side.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both files on screen. The difference is immediately visible.
In a script, prose survives only as comments, and comments are not for readers — they are for coders.
In a Quarto document, prose is the default and code sits in chunks. The output appears where the code sits.
Say the file extensions clearly: .R for scripts, .qmd for Quarto documents, .Rmd for the older R Markdown.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The key rows for business students are the last three.
Be fair to scripts: they are better for anything that runs on a schedule, gets called by other code,
or has to be debugged line by line. Notebooks are not universally superior.
The row on execution order is the one that matters most — it is the subject of slide 17.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decision rule they can actually apply, rather than a preference.
The rule: ask what this piece of work hands to the next step.
If it hands over a cleaned dataset or a fitted model, that is a script.
If it hands over something a person reads, that is a document.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warning in Part 2. Demonstrate it live if you can.
Run chunk 3, then chunk 1, then edit chunk 2 and skip it. The document on screen now shows numbers
that no clean run would ever produce. The screen and the file have diverged.
The cure is simple and absolute: render the whole document from a clean session before you believe it.
Quarto does this by default — rendering starts a fresh R session, which is exactly why it is trustworthy.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SKIPPABLE IF SHORT ON TIME.
This resolves the false choice. The pattern scales, and it is what students should use for the group project.
The document does not repeat the cleaning — it reads the processed data and reports on it.
That keeps rendering fast, which matters: if the render takes twenty minutes, nobody will run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section. Slide 24 is the one students remember.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straight back to last week. A .docx is a binary file: git diff on it tells you nothing.
Markdown is plain text, so every sentence you change is visible in a diff and reviewable in a pull request.
The second argument is longevity: markdown will open in any text editor in twenty years.
The third is that the same source can become many formats, which is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live on screen: File &gt; New File &gt; Quarto Document.
The YAML header between the three dashes controls the whole document — title, author, and output format.
Everything outside a chunk is markdown prose. Everything inside ```{r} runs.
The Render button is at the top of the editor; the keyboard shortcut is Ctrl/Cmd + Shift + 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students miss: hiding code is not the same as removing it. The code still runs and still lives in the file.
For a business audience, echo: false is the normal setting — a client wants the chart, not the code.
For a technical appendix or a marked assignment, echo: true shows your working.
Note the syntax: Quarto puts options inside the chunk as #| comments, unlike older R Markdown.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SKIPPABLE IF SHORT ON TIME, but it is the single most persuasive feature for a business audience.
The scenario: the client sends corrected data the night before the deadline. With hand-typed numbers,
you hunt through the document for every figure. With inline code, you re-render and every number updates.
This is what removes the copy-paste arrows from slide 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remember. Emphasise: you write the analysis once.
The supervisor wants a Word document with tracked changes, the client wants a PDF,
the team wants a web page, and you need slides for the presentation. Same file, four commands.
Quarto handles all of these natively — in the old R Markdown world each one needed a separate package.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SKIPPABLE IF SHORT ON TIME.
Demo it live — change format: html to format: docx, render, and the Word file appears. It takes ten seconds
and it is convincing in a way a slide is not.
The multi-format block at the bottom produces all three in a single render.
Caveat worth mentioning: PDF output needs a LaTeX install, and quarto install tinytex handles that.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Part 3 by connecting rendering back to the opening question.
A successful render from a clean session proves the project runs end to end on a machine that
remembers nothing. That is very close to proving it will run on a stranger's machine.
Recommend the habit: render before every push. It catches broken paths and missing objects immediately.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in project groups.
Watch for:
  - Students not inside an RStudio Project, so here() cannot find a root
  - PDF render failing because LaTeX is missing: quarto install tinytex fixes it
  - Students committing the rendered .html; point them back to .gitignore
Debrief by asking one group to show their docx output next to their html.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assessable. Consider making them explicit requirements.
Rules 1 and 2 are the ones that prevent the most damage.
Invite the class to add one rule of their own from the exercise.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questions. Do not advance into the appendix during Q&amp;A.
Closing question: 'Which of these four would break first in your current group project?'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or print it. Students should not memorise any of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7863840" cy="658368"/>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A Reproducible Data Analysis Workflow</a:t>
            </a:r>
            <a:endParaRPr lang="en-US" sz="3800" dirty="0"/>
          </a:p>
        </p:txBody>
      </p:sp>
      <p:sp>
        <p:nvSpPr>
          <p:cNvPr id="3" name="Text 1"/>
          <p:cNvSpPr txBox="1"/>
          <p:nvPr/>
        </p:nvSpPr>
        <p:spPr>
          <a:xfrm>
            <a:off x="640080" y="2015537"/>
            <a:ext cx="7863840" cy="822960"/>
          </a:xfrm>
          <a:prstGeom prst="rect">
            <a:avLst/>
          </a:prstGeom>
          <a:noFill/>
          <a:ln/>
        </p:spPr>
        <p:txBody>
          <a:bodyPr wrap="square" lIns="0" tIns="0" rIns="0" bIns="0" rtlCol="0" anchor="ctr"/>
          <a:lstStyle/>
          <a:p>
            <a:pPr marL="0" indent="0">
              <a:buNone/>
            </a:pPr>
            <a:r>
              <a:rPr lang="en-US" sz="2000" dirty="0">
                <a:solidFill>
                  <a:srgbClr val="CADCFC"/>
                </a:solidFill>
                <a:latin typeface="Arial" pitchFamily="34" charset="0"/>
                <a:ea typeface="Arial" pitchFamily="34" charset="-122"/>
                <a:cs typeface="Arial" pitchFamily="34" charset="-120"/>
              </a:rPr>
              <a:t>How to lay out a project, when to use a script or a document/notebook, and how one source file becomes every report you need</a:t>
            </a:r>
            <a:endParaRPr lang="en-US" sz="2000" dirty="0"/>
          </a:p>
        </p:txBody>
      </p:sp>
      <p:sp>
        <p:nvSpPr>
          <p:cNvPr id="4" name="Shape 2"/>
          <p:cNvSpPr/>
          <p:nvPr/>
        </p:nvSpPr>
        <p:spPr>
          <a:xfrm>
            <a:off x="640080" y="3063240"/>
            <a:ext cx="1828800" cy="41148"/>
          </a:xfrm>
          <a:prstGeom prst="rect">
            <a:avLst/>
          </a:prstGeom>
          <a:solidFill>
            <a:srgbClr val="2E75B6"/>
          </a:solidFill>
          <a:ln w="12700">
            <a:solidFill>
              <a:srgbClr val="2E75B6"/>
            </a:solidFill>
            <a:prstDash val="solid"/>
          </a:ln>
        </p:spPr>
      </p:sp>
      <p:sp>
        <p:nvSpPr>
          <p:cNvPr id="5" name="Text 3"/>
          <p:cNvSpPr txBox="1"/>
          <p:nvPr/>
        </p:nvSpPr>
        <p:spPr>
          <a:xfrm>
            <a:off x="640080" y="3291840"/>
            <a:ext cx="7863840" cy="320040"/>
          </a:xfrm>
          <a:prstGeom prst="rect">
            <a:avLst/>
          </a:prstGeom>
          <a:noFill/>
          <a:ln/>
        </p:spPr>
        <p:txBody>
          <a:bodyPr wrap="square" lIns="0" tIns="0" rIns="0" bIns="0" rtlCol="0" anchor="ctr"/>
          <a:lstStyle/>
          <a:p>
            <a:pPr marL="0" indent="0">
              <a:buNone/>
            </a:pPr>
            <a:r>
              <a:rPr lang="en-US" sz="1500" dirty="0">
                <a:solidFill>
                  <a:srgbClr val="A0BBDD"/>
                </a:solidFill>
                <a:latin typeface="Arial" pitchFamily="34" charset="0"/>
                <a:ea typeface="Arial" pitchFamily="34" charset="-122"/>
                <a:cs typeface="Arial" pitchFamily="34" charset="-120"/>
              </a:rPr>
              <a:t>Class: </a:t>
            </a:r>
            <a:r>
              <a:rPr lang="en-US" sz="1500" b="1" dirty="0" err="1">
                <a:solidFill>
                  <a:srgbClr val="A0BBDD"/>
                </a:solidFill>
                <a:latin typeface="Arial" pitchFamily="34" charset="0"/>
                <a:ea typeface="Arial" pitchFamily="34" charset="-122"/>
                <a:cs typeface="Arial" pitchFamily="34" charset="-120"/>
              </a:rPr>
              <a:t>dsml</a:t>
            </a:r>
            <a:r>
              <a:rPr lang="en-US" sz="1500" dirty="0">
                <a:solidFill>
                  <a:srgbClr val="A0BBDD"/>
                </a:solidFill>
                <a:latin typeface="Arial" pitchFamily="34" charset="0"/>
                <a:ea typeface="Arial" pitchFamily="34" charset="-122"/>
                <a:cs typeface="Arial" pitchFamily="34" charset="-120"/>
              </a:rPr>
              <a:t>  ·  Week 1</a:t>
            </a:r>
            <a:endParaRPr lang="en-US" sz="1500" dirty="0"/>
          </a:p>
        </p:txBody>
      </p:sp>
      <p:sp>
        <p:nvSpPr>
          <p:cNvPr id="6" name="Text 4"/>
          <p:cNvSpPr txBox="1"/>
          <p:nvPr/>
        </p:nvSpPr>
        <p:spPr>
          <a:xfrm>
            <a:off x="640080" y="3639312"/>
            <a:ext cx="7863840" cy="320040"/>
          </a:xfrm>
          <a:prstGeom prst="rect">
            <a:avLst/>
          </a:prstGeom>
          <a:noFill/>
          <a:ln/>
        </p:spPr>
        <p:txBody>
          <a:bodyPr wrap="square" lIns="0" tIns="0" rIns="0" bIns="0" rtlCol="0" anchor="ctr"/>
          <a:lstStyle/>
          <a:p>
            <a:pPr marL="0" indent="0">
              <a:buNone/>
            </a:pPr>
            <a:r>
              <a:rPr lang="en-US" sz="1500" dirty="0">
                <a:solidFill>
                  <a:srgbClr val="A0BBDD"/>
                </a:solidFill>
                <a:latin typeface="Arial" pitchFamily="34" charset="0"/>
                <a:ea typeface="Arial" pitchFamily="34" charset="-122"/>
                <a:cs typeface="Arial" pitchFamily="34" charset="-120"/>
              </a:rPr>
              <a:t>Richard </a:t>
            </a:r>
            <a:r>
              <a:rPr lang="en-US" sz="1500" dirty="0" err="1">
                <a:solidFill>
                  <a:srgbClr val="A0BBDD"/>
                </a:solidFill>
                <a:latin typeface="Arial" pitchFamily="34" charset="0"/>
                <a:ea typeface="Arial" pitchFamily="34" charset="-122"/>
                <a:cs typeface="Arial" pitchFamily="34" charset="-120"/>
              </a:rPr>
              <a:t>Dien</a:t>
            </a:r>
            <a:r>
              <a:rPr lang="en-US" sz="1500" dirty="0">
                <a:solidFill>
                  <a:srgbClr val="A0BBDD"/>
                </a:solidFill>
                <a:latin typeface="Arial" pitchFamily="34" charset="0"/>
                <a:ea typeface="Arial" pitchFamily="34" charset="-122"/>
                <a:cs typeface="Arial" pitchFamily="34" charset="-120"/>
              </a:rPr>
              <a:t> </a:t>
            </a:r>
            <a:r>
              <a:rPr lang="en-US" sz="1500" dirty="0" err="1">
                <a:solidFill>
                  <a:srgbClr val="A0BBDD"/>
                </a:solidFill>
                <a:latin typeface="Arial" pitchFamily="34" charset="0"/>
                <a:ea typeface="Arial" pitchFamily="34" charset="-122"/>
                <a:cs typeface="Arial" pitchFamily="34" charset="-120"/>
              </a:rPr>
              <a:t>Giau</a:t>
            </a:r>
            <a:r>
              <a:rPr lang="en-US" sz="1500" dirty="0">
                <a:solidFill>
                  <a:srgbClr val="A0BBDD"/>
                </a:solidFill>
                <a:latin typeface="Arial" pitchFamily="34" charset="0"/>
                <a:ea typeface="Arial" pitchFamily="34" charset="-122"/>
                <a:cs typeface="Arial" pitchFamily="34" charset="-120"/>
              </a:rPr>
              <a:t> Bui  ·  IB, NCCU  ·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Most analyses cannot be rerun six months later, for boring and preventable reasons</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Why it breaks</a:t>
            </a:r>
            <a:endParaRPr lang="en-US" sz="1800" dirty="0"/>
          </a:p>
        </p:txBody>
      </p:sp>
      <p:sp>
        <p:nvSpPr>
          <p:cNvPr id="5" name="Text 2"/>
          <p:cNvSpPr txBox="1"/>
          <p:nvPr/>
        </p:nvSpPr>
        <p:spPr>
          <a:xfrm>
            <a:off x="502920" y="1517904"/>
            <a:ext cx="3977640" cy="2468880"/>
          </a:xfrm>
          <a:prstGeom prst="rect">
            <a:avLst/>
          </a:prstGeom>
          <a:noFill/>
          <a:ln/>
        </p:spPr>
        <p:txBody>
          <a:bodyPr wrap="square" lIns="0" tIns="0" rIns="0" bIns="0" rtlCol="0" anchor="ctr"/>
          <a:lstStyle/>
          <a:p>
            <a:pPr marL="0" indent="0">
              <a:spcAft>
                <a:spcPts val="900"/>
              </a:spcAft>
              <a:buNone/>
            </a:pPr>
            <a:r>
              <a:rPr lang="en-US" sz="1350" b="1" dirty="0">
                <a:solidFill>
                  <a:srgbClr val="2D2D2D"/>
                </a:solidFill>
                <a:latin typeface="Arial" pitchFamily="34" charset="0"/>
                <a:ea typeface="Arial" pitchFamily="34" charset="-122"/>
                <a:cs typeface="Arial" pitchFamily="34" charset="-120"/>
              </a:rPr>
              <a:t>The file paths are personal: </a:t>
            </a:r>
            <a:r>
              <a:rPr lang="en-US" sz="1350" dirty="0">
                <a:solidFill>
                  <a:srgbClr val="2D2D2D"/>
                </a:solidFill>
                <a:latin typeface="Arial" pitchFamily="34" charset="0"/>
                <a:ea typeface="Arial" pitchFamily="34" charset="-122"/>
                <a:cs typeface="Arial" pitchFamily="34" charset="-120"/>
              </a:rPr>
              <a:t>C:/Users/Jia/Desktop/... exists on one laptop</a:t>
            </a:r>
            <a:endParaRPr lang="en-US" sz="1350" dirty="0"/>
          </a:p>
          <a:p>
            <a:pPr marL="0" indent="0">
              <a:spcAft>
                <a:spcPts val="900"/>
              </a:spcAft>
              <a:buNone/>
            </a:pPr>
            <a:r>
              <a:rPr lang="en-US" sz="1350" b="1" dirty="0">
                <a:solidFill>
                  <a:srgbClr val="2D2D2D"/>
                </a:solidFill>
                <a:latin typeface="Arial" pitchFamily="34" charset="0"/>
                <a:ea typeface="Arial" pitchFamily="34" charset="-122"/>
                <a:cs typeface="Arial" pitchFamily="34" charset="-120"/>
              </a:rPr>
              <a:t>The run order is lost: </a:t>
            </a:r>
            <a:r>
              <a:rPr lang="en-US" sz="1350" dirty="0">
                <a:solidFill>
                  <a:srgbClr val="2D2D2D"/>
                </a:solidFill>
                <a:latin typeface="Arial" pitchFamily="34" charset="0"/>
                <a:ea typeface="Arial" pitchFamily="34" charset="-122"/>
                <a:cs typeface="Arial" pitchFamily="34" charset="-120"/>
              </a:rPr>
              <a:t>which script came first?</a:t>
            </a:r>
            <a:endParaRPr lang="en-US" sz="1350" dirty="0"/>
          </a:p>
          <a:p>
            <a:pPr marL="0" indent="0">
              <a:spcAft>
                <a:spcPts val="900"/>
              </a:spcAft>
              <a:buNone/>
            </a:pPr>
            <a:r>
              <a:rPr lang="en-US" sz="1350" b="1" dirty="0">
                <a:solidFill>
                  <a:srgbClr val="2D2D2D"/>
                </a:solidFill>
                <a:latin typeface="Arial" pitchFamily="34" charset="0"/>
                <a:ea typeface="Arial" pitchFamily="34" charset="-122"/>
                <a:cs typeface="Arial" pitchFamily="34" charset="-120"/>
              </a:rPr>
              <a:t>The raw data was overwritten: </a:t>
            </a:r>
            <a:r>
              <a:rPr lang="en-US" sz="1350" dirty="0">
                <a:solidFill>
                  <a:srgbClr val="2D2D2D"/>
                </a:solidFill>
                <a:latin typeface="Arial" pitchFamily="34" charset="0"/>
                <a:ea typeface="Arial" pitchFamily="34" charset="-122"/>
                <a:cs typeface="Arial" pitchFamily="34" charset="-120"/>
              </a:rPr>
              <a:t>by the cleaning step</a:t>
            </a:r>
            <a:endParaRPr lang="en-US" sz="1350" dirty="0"/>
          </a:p>
          <a:p>
            <a:pPr marL="0" indent="0">
              <a:spcAft>
                <a:spcPts val="900"/>
              </a:spcAft>
              <a:buNone/>
            </a:pPr>
            <a:r>
              <a:rPr lang="en-US" sz="1350" b="1" dirty="0">
                <a:solidFill>
                  <a:srgbClr val="2D2D2D"/>
                </a:solidFill>
                <a:latin typeface="Arial" pitchFamily="34" charset="0"/>
                <a:ea typeface="Arial" pitchFamily="34" charset="-122"/>
                <a:cs typeface="Arial" pitchFamily="34" charset="-120"/>
              </a:rPr>
              <a:t>The packages moved on: </a:t>
            </a:r>
            <a:r>
              <a:rPr lang="en-US" sz="1350" dirty="0">
                <a:solidFill>
                  <a:srgbClr val="2D2D2D"/>
                </a:solidFill>
                <a:latin typeface="Arial" pitchFamily="34" charset="0"/>
                <a:ea typeface="Arial" pitchFamily="34" charset="-122"/>
                <a:cs typeface="Arial" pitchFamily="34" charset="-120"/>
              </a:rPr>
              <a:t>the code runs, the numbers differ</a:t>
            </a:r>
            <a:endParaRPr lang="en-US" sz="1350" dirty="0"/>
          </a:p>
          <a:p>
            <a:pPr marL="0" indent="0">
              <a:spcAft>
                <a:spcPts val="900"/>
              </a:spcAft>
              <a:buNone/>
            </a:pPr>
            <a:r>
              <a:rPr lang="en-US" sz="1350" b="1" dirty="0">
                <a:solidFill>
                  <a:srgbClr val="2D2D2D"/>
                </a:solidFill>
                <a:latin typeface="Arial" pitchFamily="34" charset="0"/>
                <a:ea typeface="Arial" pitchFamily="34" charset="-122"/>
                <a:cs typeface="Arial" pitchFamily="34" charset="-120"/>
              </a:rPr>
              <a:t>The report was assembled by hand: </a:t>
            </a:r>
            <a:r>
              <a:rPr lang="en-US" sz="1350" dirty="0">
                <a:solidFill>
                  <a:srgbClr val="2D2D2D"/>
                </a:solidFill>
                <a:latin typeface="Arial" pitchFamily="34" charset="0"/>
                <a:ea typeface="Arial" pitchFamily="34" charset="-122"/>
                <a:cs typeface="Arial" pitchFamily="34" charset="-120"/>
              </a:rPr>
              <a:t>and nobody remembers how</a:t>
            </a:r>
            <a:endParaRPr lang="en-US" sz="1350" dirty="0"/>
          </a:p>
        </p:txBody>
      </p:sp>
      <p:sp>
        <p:nvSpPr>
          <p:cNvPr id="6" name="Text 3"/>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What it costs</a:t>
            </a:r>
            <a:endParaRPr lang="en-US" sz="1800" dirty="0"/>
          </a:p>
        </p:txBody>
      </p:sp>
      <p:sp>
        <p:nvSpPr>
          <p:cNvPr id="7" name="Text 4"/>
          <p:cNvSpPr txBox="1"/>
          <p:nvPr/>
        </p:nvSpPr>
        <p:spPr>
          <a:xfrm>
            <a:off x="4709160" y="1517904"/>
            <a:ext cx="3931920" cy="246888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2D2D2D"/>
                </a:solidFill>
                <a:latin typeface="Arial" pitchFamily="34" charset="0"/>
                <a:ea typeface="Arial" pitchFamily="34" charset="-122"/>
                <a:cs typeface="Arial" pitchFamily="34" charset="-120"/>
              </a:rPr>
              <a:t>You cannot answer "where did this number come from?"</a:t>
            </a:r>
            <a:endParaRPr lang="en-US" sz="1400" dirty="0"/>
          </a:p>
          <a:p>
            <a:pPr marL="342900" indent="-342900">
              <a:spcAft>
                <a:spcPts val="1200"/>
              </a:spcAft>
              <a:buSzPct val="100000"/>
              <a:buChar char="•"/>
            </a:pPr>
            <a:r>
              <a:rPr lang="en-US" sz="1400" dirty="0">
                <a:solidFill>
                  <a:srgbClr val="2D2D2D"/>
                </a:solidFill>
                <a:latin typeface="Arial" pitchFamily="34" charset="0"/>
                <a:ea typeface="Arial" pitchFamily="34" charset="-122"/>
                <a:cs typeface="Arial" pitchFamily="34" charset="-120"/>
              </a:rPr>
              <a:t>A teammate cannot pick the work up from you</a:t>
            </a:r>
            <a:endParaRPr lang="en-US" sz="1400" dirty="0"/>
          </a:p>
          <a:p>
            <a:pPr marL="342900" indent="-342900">
              <a:spcAft>
                <a:spcPts val="1200"/>
              </a:spcAft>
              <a:buSzPct val="100000"/>
              <a:buChar char="•"/>
            </a:pPr>
            <a:r>
              <a:rPr lang="en-US" sz="1400" dirty="0">
                <a:solidFill>
                  <a:srgbClr val="2D2D2D"/>
                </a:solidFill>
                <a:latin typeface="Arial" pitchFamily="34" charset="0"/>
                <a:ea typeface="Arial" pitchFamily="34" charset="-122"/>
                <a:cs typeface="Arial" pitchFamily="34" charset="-120"/>
              </a:rPr>
              <a:t>A correction means redoing the analysis from scratch</a:t>
            </a:r>
            <a:endParaRPr lang="en-US" sz="1400" dirty="0"/>
          </a:p>
          <a:p>
            <a:pPr marL="342900" indent="-342900">
              <a:spcAft>
                <a:spcPts val="1200"/>
              </a:spcAft>
              <a:buSzPct val="100000"/>
              <a:buChar char="•"/>
            </a:pPr>
            <a:r>
              <a:rPr lang="en-US" sz="1400" dirty="0">
                <a:solidFill>
                  <a:srgbClr val="2D2D2D"/>
                </a:solidFill>
                <a:latin typeface="Arial" pitchFamily="34" charset="0"/>
                <a:ea typeface="Arial" pitchFamily="34" charset="-122"/>
                <a:cs typeface="Arial" pitchFamily="34" charset="-120"/>
              </a:rPr>
              <a:t>The result cannot be defended to a client or an examiner</a:t>
            </a:r>
            <a:endParaRPr lang="en-US" sz="1400" dirty="0"/>
          </a:p>
        </p:txBody>
      </p:sp>
      <p:sp>
        <p:nvSpPr>
          <p:cNvPr id="8" name="Shape 5"/>
          <p:cNvSpPr/>
          <p:nvPr/>
        </p:nvSpPr>
        <p:spPr>
          <a:xfrm>
            <a:off x="502920" y="4041648"/>
            <a:ext cx="8138160" cy="548640"/>
          </a:xfrm>
          <a:prstGeom prst="roundRect">
            <a:avLst>
              <a:gd name="adj" fmla="val 10000"/>
            </a:avLst>
          </a:prstGeom>
          <a:solidFill>
            <a:srgbClr val="FFF2CC"/>
          </a:solidFill>
          <a:ln w="12700">
            <a:solidFill>
              <a:srgbClr val="E0A800"/>
            </a:solidFill>
            <a:prstDash val="solid"/>
          </a:ln>
        </p:spPr>
      </p:sp>
      <p:sp>
        <p:nvSpPr>
          <p:cNvPr id="9" name="Text 6"/>
          <p:cNvSpPr txBox="1"/>
          <p:nvPr/>
        </p:nvSpPr>
        <p:spPr>
          <a:xfrm>
            <a:off x="640080" y="4096512"/>
            <a:ext cx="7863840" cy="438912"/>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None of these are hard problems. They are all decided in the first ten minutes of a project, and almost never revisited.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Results usually live in three places that quietly drift apart</a:t>
            </a:r>
            <a:endParaRPr lang="en-US" sz="2400" dirty="0"/>
          </a:p>
        </p:txBody>
      </p:sp>
      <p:sp>
        <p:nvSpPr>
          <p:cNvPr id="4" name="Shape 1"/>
          <p:cNvSpPr/>
          <p:nvPr/>
        </p:nvSpPr>
        <p:spPr>
          <a:xfrm>
            <a:off x="502920" y="1371600"/>
            <a:ext cx="2286000" cy="1188720"/>
          </a:xfrm>
          <a:prstGeom prst="roundRect">
            <a:avLst>
              <a:gd name="adj" fmla="val 6154"/>
            </a:avLst>
          </a:prstGeom>
          <a:solidFill>
            <a:srgbClr val="EBF3FA"/>
          </a:solidFill>
          <a:ln w="12700">
            <a:solidFill>
              <a:srgbClr val="2E75B6"/>
            </a:solidFill>
            <a:prstDash val="solid"/>
          </a:ln>
        </p:spPr>
      </p:sp>
      <p:sp>
        <p:nvSpPr>
          <p:cNvPr id="5" name="Text 2"/>
          <p:cNvSpPr txBox="1"/>
          <p:nvPr/>
        </p:nvSpPr>
        <p:spPr>
          <a:xfrm>
            <a:off x="502920" y="1481328"/>
            <a:ext cx="2286000" cy="329184"/>
          </a:xfrm>
          <a:prstGeom prst="rect">
            <a:avLst/>
          </a:prstGeom>
          <a:noFill/>
          <a:ln/>
        </p:spPr>
        <p:txBody>
          <a:bodyPr wrap="square" lIns="0" tIns="0" rIns="0" bIns="0" rtlCol="0" anchor="ctr"/>
          <a:lstStyle/>
          <a:p>
            <a:pPr marL="0" indent="0" algn="ctr">
              <a:buNone/>
            </a:pPr>
            <a:r>
              <a:rPr lang="en-US" sz="1700" b="1" dirty="0">
                <a:solidFill>
                  <a:srgbClr val="1F4E79"/>
                </a:solidFill>
                <a:latin typeface="Arial" pitchFamily="34" charset="0"/>
                <a:ea typeface="Arial" pitchFamily="34" charset="-122"/>
                <a:cs typeface="Arial" pitchFamily="34" charset="-120"/>
              </a:rPr>
              <a:t>The code</a:t>
            </a:r>
            <a:endParaRPr lang="en-US" sz="1700" dirty="0"/>
          </a:p>
        </p:txBody>
      </p:sp>
      <p:sp>
        <p:nvSpPr>
          <p:cNvPr id="6" name="Text 3"/>
          <p:cNvSpPr txBox="1"/>
          <p:nvPr/>
        </p:nvSpPr>
        <p:spPr>
          <a:xfrm>
            <a:off x="502920" y="1828800"/>
            <a:ext cx="2286000" cy="621792"/>
          </a:xfrm>
          <a:prstGeom prst="rect">
            <a:avLst/>
          </a:prstGeom>
          <a:noFill/>
          <a:ln/>
        </p:spPr>
        <p:txBody>
          <a:bodyPr wrap="square" lIns="0" tIns="0" rIns="0" bIns="0" rtlCol="0" anchor="t"/>
          <a:lstStyle/>
          <a:p>
            <a:pPr marL="0" indent="0" algn="ctr">
              <a:buNone/>
            </a:pPr>
            <a:r>
              <a:rPr lang="en-US" sz="1400" dirty="0">
                <a:solidFill>
                  <a:srgbClr val="2D2D2D"/>
                </a:solidFill>
                <a:latin typeface="Arial" pitchFamily="34" charset="0"/>
                <a:ea typeface="Arial" pitchFamily="34" charset="-122"/>
                <a:cs typeface="Arial" pitchFamily="34" charset="-120"/>
              </a:rPr>
              <a:t>scripts that</a:t>
            </a:r>
            <a:endParaRPr lang="en-US" sz="1400" dirty="0"/>
          </a:p>
          <a:p>
            <a:pPr marL="0" indent="0" algn="ctr">
              <a:buNone/>
            </a:pPr>
            <a:r>
              <a:rPr lang="en-US" sz="1400" dirty="0">
                <a:solidFill>
                  <a:srgbClr val="2D2D2D"/>
                </a:solidFill>
                <a:latin typeface="Arial" pitchFamily="34" charset="0"/>
                <a:ea typeface="Arial" pitchFamily="34" charset="-122"/>
                <a:cs typeface="Arial" pitchFamily="34" charset="-120"/>
              </a:rPr>
              <a:t>produce results</a:t>
            </a:r>
            <a:endParaRPr lang="en-US" sz="1400" dirty="0"/>
          </a:p>
        </p:txBody>
      </p:sp>
      <p:sp>
        <p:nvSpPr>
          <p:cNvPr id="7" name="Shape 4"/>
          <p:cNvSpPr/>
          <p:nvPr/>
        </p:nvSpPr>
        <p:spPr>
          <a:xfrm>
            <a:off x="3429000" y="1371600"/>
            <a:ext cx="2286000" cy="1188720"/>
          </a:xfrm>
          <a:prstGeom prst="roundRect">
            <a:avLst>
              <a:gd name="adj" fmla="val 6154"/>
            </a:avLst>
          </a:prstGeom>
          <a:solidFill>
            <a:srgbClr val="EBF3FA"/>
          </a:solidFill>
          <a:ln w="12700">
            <a:solidFill>
              <a:srgbClr val="2E75B6"/>
            </a:solidFill>
            <a:prstDash val="solid"/>
          </a:ln>
        </p:spPr>
      </p:sp>
      <p:sp>
        <p:nvSpPr>
          <p:cNvPr id="8" name="Text 5"/>
          <p:cNvSpPr txBox="1"/>
          <p:nvPr/>
        </p:nvSpPr>
        <p:spPr>
          <a:xfrm>
            <a:off x="3429000" y="1481328"/>
            <a:ext cx="2286000" cy="329184"/>
          </a:xfrm>
          <a:prstGeom prst="rect">
            <a:avLst/>
          </a:prstGeom>
          <a:noFill/>
          <a:ln/>
        </p:spPr>
        <p:txBody>
          <a:bodyPr wrap="square" lIns="0" tIns="0" rIns="0" bIns="0" rtlCol="0" anchor="ctr"/>
          <a:lstStyle/>
          <a:p>
            <a:pPr marL="0" indent="0" algn="ctr">
              <a:buNone/>
            </a:pPr>
            <a:r>
              <a:rPr lang="en-US" sz="1700" b="1" dirty="0">
                <a:solidFill>
                  <a:srgbClr val="1F4E79"/>
                </a:solidFill>
                <a:latin typeface="Arial" pitchFamily="34" charset="0"/>
                <a:ea typeface="Arial" pitchFamily="34" charset="-122"/>
                <a:cs typeface="Arial" pitchFamily="34" charset="-120"/>
              </a:rPr>
              <a:t>The output</a:t>
            </a:r>
            <a:endParaRPr lang="en-US" sz="1700" dirty="0"/>
          </a:p>
        </p:txBody>
      </p:sp>
      <p:sp>
        <p:nvSpPr>
          <p:cNvPr id="9" name="Text 6"/>
          <p:cNvSpPr txBox="1"/>
          <p:nvPr/>
        </p:nvSpPr>
        <p:spPr>
          <a:xfrm>
            <a:off x="3429000" y="1828800"/>
            <a:ext cx="2286000" cy="621792"/>
          </a:xfrm>
          <a:prstGeom prst="rect">
            <a:avLst/>
          </a:prstGeom>
          <a:noFill/>
          <a:ln/>
        </p:spPr>
        <p:txBody>
          <a:bodyPr wrap="square" lIns="0" tIns="0" rIns="0" bIns="0" rtlCol="0" anchor="t"/>
          <a:lstStyle/>
          <a:p>
            <a:pPr marL="0" indent="0" algn="ctr">
              <a:buNone/>
            </a:pPr>
            <a:r>
              <a:rPr lang="en-US" sz="1400" dirty="0">
                <a:solidFill>
                  <a:srgbClr val="2D2D2D"/>
                </a:solidFill>
                <a:latin typeface="Arial" pitchFamily="34" charset="0"/>
                <a:ea typeface="Arial" pitchFamily="34" charset="-122"/>
                <a:cs typeface="Arial" pitchFamily="34" charset="-120"/>
              </a:rPr>
              <a:t>charts, tables,</a:t>
            </a:r>
            <a:endParaRPr lang="en-US" sz="1400" dirty="0"/>
          </a:p>
          <a:p>
            <a:pPr marL="0" indent="0" algn="ctr">
              <a:buNone/>
            </a:pPr>
            <a:r>
              <a:rPr lang="en-US" sz="1400" dirty="0">
                <a:solidFill>
                  <a:srgbClr val="2D2D2D"/>
                </a:solidFill>
                <a:latin typeface="Arial" pitchFamily="34" charset="0"/>
                <a:ea typeface="Arial" pitchFamily="34" charset="-122"/>
                <a:cs typeface="Arial" pitchFamily="34" charset="-120"/>
              </a:rPr>
              <a:t>numbers</a:t>
            </a:r>
            <a:endParaRPr lang="en-US" sz="1400" dirty="0"/>
          </a:p>
        </p:txBody>
      </p:sp>
      <p:sp>
        <p:nvSpPr>
          <p:cNvPr id="10" name="Shape 7"/>
          <p:cNvSpPr/>
          <p:nvPr/>
        </p:nvSpPr>
        <p:spPr>
          <a:xfrm>
            <a:off x="6355080" y="1371600"/>
            <a:ext cx="2286000" cy="1188720"/>
          </a:xfrm>
          <a:prstGeom prst="roundRect">
            <a:avLst>
              <a:gd name="adj" fmla="val 6154"/>
            </a:avLst>
          </a:prstGeom>
          <a:solidFill>
            <a:srgbClr val="EBF3FA"/>
          </a:solidFill>
          <a:ln w="12700">
            <a:solidFill>
              <a:srgbClr val="2E75B6"/>
            </a:solidFill>
            <a:prstDash val="solid"/>
          </a:ln>
        </p:spPr>
      </p:sp>
      <p:sp>
        <p:nvSpPr>
          <p:cNvPr id="11" name="Text 8"/>
          <p:cNvSpPr txBox="1"/>
          <p:nvPr/>
        </p:nvSpPr>
        <p:spPr>
          <a:xfrm>
            <a:off x="6355080" y="1481328"/>
            <a:ext cx="2286000" cy="329184"/>
          </a:xfrm>
          <a:prstGeom prst="rect">
            <a:avLst/>
          </a:prstGeom>
          <a:noFill/>
          <a:ln/>
        </p:spPr>
        <p:txBody>
          <a:bodyPr wrap="square" lIns="0" tIns="0" rIns="0" bIns="0" rtlCol="0" anchor="ctr"/>
          <a:lstStyle/>
          <a:p>
            <a:pPr marL="0" indent="0" algn="ctr">
              <a:buNone/>
            </a:pPr>
            <a:r>
              <a:rPr lang="en-US" sz="1700" b="1" dirty="0">
                <a:solidFill>
                  <a:srgbClr val="1F4E79"/>
                </a:solidFill>
                <a:latin typeface="Arial" pitchFamily="34" charset="0"/>
                <a:ea typeface="Arial" pitchFamily="34" charset="-122"/>
                <a:cs typeface="Arial" pitchFamily="34" charset="-120"/>
              </a:rPr>
              <a:t>The write-up</a:t>
            </a:r>
            <a:endParaRPr lang="en-US" sz="1700" dirty="0"/>
          </a:p>
        </p:txBody>
      </p:sp>
      <p:sp>
        <p:nvSpPr>
          <p:cNvPr id="12" name="Text 9"/>
          <p:cNvSpPr txBox="1"/>
          <p:nvPr/>
        </p:nvSpPr>
        <p:spPr>
          <a:xfrm>
            <a:off x="6355080" y="1828800"/>
            <a:ext cx="2286000" cy="621792"/>
          </a:xfrm>
          <a:prstGeom prst="rect">
            <a:avLst/>
          </a:prstGeom>
          <a:noFill/>
          <a:ln/>
        </p:spPr>
        <p:txBody>
          <a:bodyPr wrap="square" lIns="0" tIns="0" rIns="0" bIns="0" rtlCol="0" anchor="t"/>
          <a:lstStyle/>
          <a:p>
            <a:pPr marL="0" indent="0" algn="ctr">
              <a:buNone/>
            </a:pPr>
            <a:r>
              <a:rPr lang="en-US" sz="1400" dirty="0">
                <a:solidFill>
                  <a:srgbClr val="2D2D2D"/>
                </a:solidFill>
                <a:latin typeface="Arial" pitchFamily="34" charset="0"/>
                <a:ea typeface="Arial" pitchFamily="34" charset="-122"/>
                <a:cs typeface="Arial" pitchFamily="34" charset="-120"/>
              </a:rPr>
              <a:t>the document</a:t>
            </a:r>
            <a:endParaRPr lang="en-US" sz="1400" dirty="0"/>
          </a:p>
          <a:p>
            <a:pPr marL="0" indent="0" algn="ctr">
              <a:buNone/>
            </a:pPr>
            <a:r>
              <a:rPr lang="en-US" sz="1400" dirty="0">
                <a:solidFill>
                  <a:srgbClr val="2D2D2D"/>
                </a:solidFill>
                <a:latin typeface="Arial" pitchFamily="34" charset="0"/>
                <a:ea typeface="Arial" pitchFamily="34" charset="-122"/>
                <a:cs typeface="Arial" pitchFamily="34" charset="-120"/>
              </a:rPr>
              <a:t>people read</a:t>
            </a:r>
            <a:endParaRPr lang="en-US" sz="1400" dirty="0"/>
          </a:p>
        </p:txBody>
      </p:sp>
      <p:sp>
        <p:nvSpPr>
          <p:cNvPr id="13" name="Shape 10"/>
          <p:cNvSpPr/>
          <p:nvPr/>
        </p:nvSpPr>
        <p:spPr>
          <a:xfrm>
            <a:off x="2825496" y="1847088"/>
            <a:ext cx="548640" cy="237744"/>
          </a:xfrm>
          <a:prstGeom prst="rightArrow">
            <a:avLst/>
          </a:prstGeom>
          <a:solidFill>
            <a:srgbClr val="E0A800"/>
          </a:solidFill>
          <a:ln w="12700">
            <a:solidFill>
              <a:srgbClr val="E0A800"/>
            </a:solidFill>
            <a:prstDash val="solid"/>
          </a:ln>
        </p:spPr>
      </p:sp>
      <p:sp>
        <p:nvSpPr>
          <p:cNvPr id="14" name="Shape 11"/>
          <p:cNvSpPr/>
          <p:nvPr/>
        </p:nvSpPr>
        <p:spPr>
          <a:xfrm>
            <a:off x="5751576" y="1847088"/>
            <a:ext cx="548640" cy="237744"/>
          </a:xfrm>
          <a:prstGeom prst="rightArrow">
            <a:avLst/>
          </a:prstGeom>
          <a:solidFill>
            <a:srgbClr val="E0A800"/>
          </a:solidFill>
          <a:ln w="12700">
            <a:solidFill>
              <a:srgbClr val="E0A800"/>
            </a:solidFill>
            <a:prstDash val="solid"/>
          </a:ln>
        </p:spPr>
      </p:sp>
      <p:sp>
        <p:nvSpPr>
          <p:cNvPr id="15" name="Text 12"/>
          <p:cNvSpPr txBox="1"/>
          <p:nvPr/>
        </p:nvSpPr>
        <p:spPr>
          <a:xfrm>
            <a:off x="2551176" y="2633472"/>
            <a:ext cx="1097280" cy="256032"/>
          </a:xfrm>
          <a:prstGeom prst="rect">
            <a:avLst/>
          </a:prstGeom>
          <a:noFill/>
          <a:ln/>
        </p:spPr>
        <p:txBody>
          <a:bodyPr wrap="square" lIns="0" tIns="0" rIns="0" bIns="0" rtlCol="0" anchor="ctr"/>
          <a:lstStyle/>
          <a:p>
            <a:pPr marL="0" indent="0" algn="ctr">
              <a:buNone/>
            </a:pPr>
            <a:r>
              <a:rPr lang="en-US" sz="1150" dirty="0">
                <a:solidFill>
                  <a:srgbClr val="7A5200"/>
                </a:solidFill>
                <a:latin typeface="Arial" pitchFamily="34" charset="0"/>
                <a:ea typeface="Arial" pitchFamily="34" charset="-122"/>
                <a:cs typeface="Arial" pitchFamily="34" charset="-120"/>
              </a:rPr>
              <a:t>copied by hand</a:t>
            </a:r>
            <a:endParaRPr lang="en-US" sz="1150" dirty="0"/>
          </a:p>
        </p:txBody>
      </p:sp>
      <p:sp>
        <p:nvSpPr>
          <p:cNvPr id="16" name="Text 13"/>
          <p:cNvSpPr txBox="1"/>
          <p:nvPr/>
        </p:nvSpPr>
        <p:spPr>
          <a:xfrm>
            <a:off x="5477256" y="2633472"/>
            <a:ext cx="1097280" cy="256032"/>
          </a:xfrm>
          <a:prstGeom prst="rect">
            <a:avLst/>
          </a:prstGeom>
          <a:noFill/>
          <a:ln/>
        </p:spPr>
        <p:txBody>
          <a:bodyPr wrap="square" lIns="0" tIns="0" rIns="0" bIns="0" rtlCol="0" anchor="ctr"/>
          <a:lstStyle/>
          <a:p>
            <a:pPr marL="0" indent="0" algn="ctr">
              <a:buNone/>
            </a:pPr>
            <a:r>
              <a:rPr lang="en-US" sz="1150" dirty="0">
                <a:solidFill>
                  <a:srgbClr val="7A5200"/>
                </a:solidFill>
                <a:latin typeface="Arial" pitchFamily="34" charset="0"/>
                <a:ea typeface="Arial" pitchFamily="34" charset="-122"/>
                <a:cs typeface="Arial" pitchFamily="34" charset="-120"/>
              </a:rPr>
              <a:t>copied by hand</a:t>
            </a:r>
            <a:endParaRPr lang="en-US" sz="1150" dirty="0"/>
          </a:p>
        </p:txBody>
      </p:sp>
      <p:sp>
        <p:nvSpPr>
          <p:cNvPr id="17" name="Text 14"/>
          <p:cNvSpPr txBox="1"/>
          <p:nvPr/>
        </p:nvSpPr>
        <p:spPr>
          <a:xfrm>
            <a:off x="502920" y="3127248"/>
            <a:ext cx="8138160" cy="365760"/>
          </a:xfrm>
          <a:prstGeom prst="rect">
            <a:avLst/>
          </a:prstGeom>
          <a:noFill/>
          <a:ln/>
        </p:spPr>
        <p:txBody>
          <a:bodyPr wrap="square" lIns="0" tIns="0" rIns="0" bIns="0" rtlCol="0" anchor="ctr"/>
          <a:lstStyle/>
          <a:p>
            <a:pPr marL="0" indent="0">
              <a:buNone/>
            </a:pPr>
            <a:r>
              <a:rPr lang="en-US" sz="1600" dirty="0">
                <a:solidFill>
                  <a:srgbClr val="2D2D2D"/>
                </a:solidFill>
                <a:latin typeface="Arial" pitchFamily="34" charset="0"/>
                <a:ea typeface="Arial" pitchFamily="34" charset="-122"/>
                <a:cs typeface="Arial" pitchFamily="34" charset="-120"/>
              </a:rPr>
              <a:t>Every hand-copied number is a number that will be wrong the next time the analysis changes.</a:t>
            </a:r>
            <a:endParaRPr lang="en-US" sz="1600" dirty="0"/>
          </a:p>
        </p:txBody>
      </p:sp>
      <p:sp>
        <p:nvSpPr>
          <p:cNvPr id="18" name="Shape 15"/>
          <p:cNvSpPr/>
          <p:nvPr/>
        </p:nvSpPr>
        <p:spPr>
          <a:xfrm>
            <a:off x="502920" y="3611880"/>
            <a:ext cx="8138160" cy="658368"/>
          </a:xfrm>
          <a:prstGeom prst="roundRect">
            <a:avLst>
              <a:gd name="adj" fmla="val 8333"/>
            </a:avLst>
          </a:prstGeom>
          <a:solidFill>
            <a:srgbClr val="FFF2CC"/>
          </a:solidFill>
          <a:ln w="12700">
            <a:solidFill>
              <a:srgbClr val="E0A800"/>
            </a:solidFill>
            <a:prstDash val="solid"/>
          </a:ln>
        </p:spPr>
      </p:sp>
      <p:sp>
        <p:nvSpPr>
          <p:cNvPr id="19" name="Text 16"/>
          <p:cNvSpPr txBox="1"/>
          <p:nvPr/>
        </p:nvSpPr>
        <p:spPr>
          <a:xfrm>
            <a:off x="640080" y="3666744"/>
            <a:ext cx="7863840" cy="548640"/>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The fix is to delete the manual arrows. The report should be generated from the code, not assembled alongside it — which is exactly what Part 3 is about.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Today's question: how do you set up a project so it can be rerun and the report rebuilt, by anyone?</a:t>
            </a:r>
            <a:endParaRPr lang="en-US" sz="2400" dirty="0"/>
          </a:p>
        </p:txBody>
      </p:sp>
      <p:sp>
        <p:nvSpPr>
          <p:cNvPr id="4" name="Shape 1"/>
          <p:cNvSpPr/>
          <p:nvPr/>
        </p:nvSpPr>
        <p:spPr>
          <a:xfrm>
            <a:off x="1051560" y="1216152"/>
            <a:ext cx="7040880" cy="1005840"/>
          </a:xfrm>
          <a:prstGeom prst="roundRect">
            <a:avLst>
              <a:gd name="adj" fmla="val 7273"/>
            </a:avLst>
          </a:prstGeom>
          <a:solidFill>
            <a:srgbClr val="EBF3FA"/>
          </a:solidFill>
          <a:ln w="12700">
            <a:solidFill>
              <a:srgbClr val="2E75B6"/>
            </a:solidFill>
            <a:prstDash val="solid"/>
          </a:ln>
        </p:spPr>
      </p:sp>
      <p:sp>
        <p:nvSpPr>
          <p:cNvPr id="5" name="Text 2"/>
          <p:cNvSpPr txBox="1"/>
          <p:nvPr/>
        </p:nvSpPr>
        <p:spPr>
          <a:xfrm>
            <a:off x="1188720" y="1307592"/>
            <a:ext cx="6766560" cy="822960"/>
          </a:xfrm>
          <a:prstGeom prst="rect">
            <a:avLst/>
          </a:prstGeom>
          <a:noFill/>
          <a:ln/>
        </p:spPr>
        <p:txBody>
          <a:bodyPr wrap="square" lIns="0" tIns="0" rIns="0" bIns="0" rtlCol="0" anchor="ctr"/>
          <a:lstStyle/>
          <a:p>
            <a:pPr marL="0" indent="0" algn="ctr">
              <a:buNone/>
            </a:pPr>
            <a:r>
              <a:rPr lang="en-US" sz="1800" dirty="0">
                <a:solidFill>
                  <a:srgbClr val="1F4E79"/>
                </a:solidFill>
                <a:latin typeface="Arial" pitchFamily="34" charset="0"/>
                <a:ea typeface="Arial" pitchFamily="34" charset="-122"/>
                <a:cs typeface="Arial" pitchFamily="34" charset="-120"/>
              </a:rPr>
              <a:t>Someone clones your project, opens it, runs one command —</a:t>
            </a:r>
            <a:endParaRPr lang="en-US" sz="1800" dirty="0"/>
          </a:p>
          <a:p>
            <a:pPr marL="0" indent="0" algn="ctr">
              <a:buNone/>
            </a:pPr>
            <a:r>
              <a:rPr lang="en-US" sz="1800" dirty="0">
                <a:solidFill>
                  <a:srgbClr val="1F4E79"/>
                </a:solidFill>
                <a:latin typeface="Arial" pitchFamily="34" charset="0"/>
                <a:ea typeface="Arial" pitchFamily="34" charset="-122"/>
                <a:cs typeface="Arial" pitchFamily="34" charset="-120"/>
              </a:rPr>
              <a:t>and gets your exact results and your finished report.</a:t>
            </a:r>
            <a:endParaRPr lang="en-US" sz="1800" dirty="0"/>
          </a:p>
        </p:txBody>
      </p:sp>
      <p:sp>
        <p:nvSpPr>
          <p:cNvPr id="6" name="Text 3"/>
          <p:cNvSpPr txBox="1"/>
          <p:nvPr/>
        </p:nvSpPr>
        <p:spPr>
          <a:xfrm>
            <a:off x="502920" y="2395728"/>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By the end of this class you will be able to</a:t>
            </a:r>
            <a:endParaRPr lang="en-US" sz="1800" dirty="0"/>
          </a:p>
        </p:txBody>
      </p:sp>
      <p:sp>
        <p:nvSpPr>
          <p:cNvPr id="7" name="Text 4"/>
          <p:cNvSpPr txBox="1"/>
          <p:nvPr/>
        </p:nvSpPr>
        <p:spPr>
          <a:xfrm>
            <a:off x="502920" y="2743200"/>
            <a:ext cx="8138160" cy="182880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Lay out a project folder that a stranger can navigate without asking you</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Decide when a task belongs in a script and when it belongs in a document</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Write a Quarto document that mixes prose, code, and results in one file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Render that one file to HTML, PDF, Word, or slides without rewriting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We work outward: the folder, then the file, then the output</a:t>
            </a:r>
            <a:endParaRPr lang="en-US" sz="2400" dirty="0"/>
          </a:p>
        </p:txBody>
      </p:sp>
      <p:sp>
        <p:nvSpPr>
          <p:cNvPr id="4" name="Shape 1"/>
          <p:cNvSpPr/>
          <p:nvPr/>
        </p:nvSpPr>
        <p:spPr>
          <a:xfrm>
            <a:off x="502920" y="1371600"/>
            <a:ext cx="566928" cy="566928"/>
          </a:xfrm>
          <a:prstGeom prst="roundRect">
            <a:avLst>
              <a:gd name="adj" fmla="val 12903"/>
            </a:avLst>
          </a:prstGeom>
          <a:solidFill>
            <a:srgbClr val="2E75B6"/>
          </a:solidFill>
          <a:ln w="12700">
            <a:solidFill>
              <a:srgbClr val="2E75B6"/>
            </a:solidFill>
            <a:prstDash val="solid"/>
          </a:ln>
        </p:spPr>
      </p:sp>
      <p:sp>
        <p:nvSpPr>
          <p:cNvPr id="5" name="Text 2"/>
          <p:cNvSpPr txBox="1"/>
          <p:nvPr/>
        </p:nvSpPr>
        <p:spPr>
          <a:xfrm>
            <a:off x="502920" y="13716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6" name="Text 3"/>
          <p:cNvSpPr txBox="1"/>
          <p:nvPr/>
        </p:nvSpPr>
        <p:spPr>
          <a:xfrm>
            <a:off x="1234440" y="1353312"/>
            <a:ext cx="2743200" cy="310896"/>
          </a:xfrm>
          <a:prstGeom prst="rect">
            <a:avLst/>
          </a:prstGeom>
          <a:noFill/>
          <a:ln/>
        </p:spPr>
        <p:txBody>
          <a:bodyPr wrap="square" lIns="0" tIns="0" rIns="0" bIns="0" rtlCol="0" anchor="ctr"/>
          <a:lstStyle/>
          <a:p>
            <a:pPr marL="0" indent="0">
              <a:buNone/>
            </a:pPr>
            <a:r>
              <a:rPr lang="en-US" sz="1800" b="1" dirty="0">
                <a:solidFill>
                  <a:srgbClr val="1F4E79"/>
                </a:solidFill>
                <a:latin typeface="Arial" pitchFamily="34" charset="0"/>
                <a:ea typeface="Arial" pitchFamily="34" charset="-122"/>
                <a:cs typeface="Arial" pitchFamily="34" charset="-120"/>
              </a:rPr>
              <a:t>The folder</a:t>
            </a:r>
            <a:endParaRPr lang="en-US" sz="1800" dirty="0"/>
          </a:p>
        </p:txBody>
      </p:sp>
      <p:sp>
        <p:nvSpPr>
          <p:cNvPr id="7" name="Text 4"/>
          <p:cNvSpPr txBox="1"/>
          <p:nvPr/>
        </p:nvSpPr>
        <p:spPr>
          <a:xfrm>
            <a:off x="1234440" y="1664208"/>
            <a:ext cx="5760720" cy="36576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Where things live, and why the layout is a decision worth making once</a:t>
            </a:r>
            <a:endParaRPr lang="en-US" sz="1500" dirty="0"/>
          </a:p>
        </p:txBody>
      </p:sp>
      <p:sp>
        <p:nvSpPr>
          <p:cNvPr id="9" name="Shape 6"/>
          <p:cNvSpPr/>
          <p:nvPr/>
        </p:nvSpPr>
        <p:spPr>
          <a:xfrm>
            <a:off x="502920" y="2423160"/>
            <a:ext cx="566928" cy="566928"/>
          </a:xfrm>
          <a:prstGeom prst="roundRect">
            <a:avLst>
              <a:gd name="adj" fmla="val 12903"/>
            </a:avLst>
          </a:prstGeom>
          <a:solidFill>
            <a:srgbClr val="2E75B6"/>
          </a:solidFill>
          <a:ln w="12700">
            <a:solidFill>
              <a:srgbClr val="2E75B6"/>
            </a:solidFill>
            <a:prstDash val="solid"/>
          </a:ln>
        </p:spPr>
      </p:sp>
      <p:sp>
        <p:nvSpPr>
          <p:cNvPr id="10" name="Text 7"/>
          <p:cNvSpPr txBox="1"/>
          <p:nvPr/>
        </p:nvSpPr>
        <p:spPr>
          <a:xfrm>
            <a:off x="502920" y="242316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8"/>
          <p:cNvSpPr txBox="1"/>
          <p:nvPr/>
        </p:nvSpPr>
        <p:spPr>
          <a:xfrm>
            <a:off x="1234440" y="2404872"/>
            <a:ext cx="2743200" cy="310896"/>
          </a:xfrm>
          <a:prstGeom prst="rect">
            <a:avLst/>
          </a:prstGeom>
          <a:noFill/>
          <a:ln/>
        </p:spPr>
        <p:txBody>
          <a:bodyPr wrap="square" lIns="0" tIns="0" rIns="0" bIns="0" rtlCol="0" anchor="ctr"/>
          <a:lstStyle/>
          <a:p>
            <a:pPr marL="0" indent="0">
              <a:buNone/>
            </a:pPr>
            <a:r>
              <a:rPr lang="en-US" sz="1800" b="1" dirty="0">
                <a:solidFill>
                  <a:srgbClr val="1F4E79"/>
                </a:solidFill>
                <a:latin typeface="Arial" pitchFamily="34" charset="0"/>
                <a:ea typeface="Arial" pitchFamily="34" charset="-122"/>
                <a:cs typeface="Arial" pitchFamily="34" charset="-120"/>
              </a:rPr>
              <a:t>The file</a:t>
            </a:r>
            <a:endParaRPr lang="en-US" sz="1800" dirty="0"/>
          </a:p>
        </p:txBody>
      </p:sp>
      <p:sp>
        <p:nvSpPr>
          <p:cNvPr id="12" name="Text 9"/>
          <p:cNvSpPr txBox="1"/>
          <p:nvPr/>
        </p:nvSpPr>
        <p:spPr>
          <a:xfrm>
            <a:off x="1234440" y="2715768"/>
            <a:ext cx="5760720" cy="36576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Script or document? What each is good at, and why most projects use both</a:t>
            </a:r>
            <a:endParaRPr lang="en-US" sz="1500" dirty="0"/>
          </a:p>
        </p:txBody>
      </p:sp>
      <p:sp>
        <p:nvSpPr>
          <p:cNvPr id="14" name="Shape 11"/>
          <p:cNvSpPr/>
          <p:nvPr/>
        </p:nvSpPr>
        <p:spPr>
          <a:xfrm>
            <a:off x="502920" y="3474720"/>
            <a:ext cx="566928" cy="566928"/>
          </a:xfrm>
          <a:prstGeom prst="roundRect">
            <a:avLst>
              <a:gd name="adj" fmla="val 12903"/>
            </a:avLst>
          </a:prstGeom>
          <a:solidFill>
            <a:srgbClr val="2E75B6"/>
          </a:solidFill>
          <a:ln w="12700">
            <a:solidFill>
              <a:srgbClr val="2E75B6"/>
            </a:solidFill>
            <a:prstDash val="solid"/>
          </a:ln>
        </p:spPr>
      </p:sp>
      <p:sp>
        <p:nvSpPr>
          <p:cNvPr id="15" name="Text 12"/>
          <p:cNvSpPr txBox="1"/>
          <p:nvPr/>
        </p:nvSpPr>
        <p:spPr>
          <a:xfrm>
            <a:off x="502920" y="34747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3"/>
          <p:cNvSpPr txBox="1"/>
          <p:nvPr/>
        </p:nvSpPr>
        <p:spPr>
          <a:xfrm>
            <a:off x="1234440" y="3456432"/>
            <a:ext cx="2743200" cy="310896"/>
          </a:xfrm>
          <a:prstGeom prst="rect">
            <a:avLst/>
          </a:prstGeom>
          <a:noFill/>
          <a:ln/>
        </p:spPr>
        <p:txBody>
          <a:bodyPr wrap="square" lIns="0" tIns="0" rIns="0" bIns="0" rtlCol="0" anchor="ctr"/>
          <a:lstStyle/>
          <a:p>
            <a:pPr marL="0" indent="0">
              <a:buNone/>
            </a:pPr>
            <a:r>
              <a:rPr lang="en-US" sz="1800" b="1" dirty="0">
                <a:solidFill>
                  <a:srgbClr val="1F4E79"/>
                </a:solidFill>
                <a:latin typeface="Arial" pitchFamily="34" charset="0"/>
                <a:ea typeface="Arial" pitchFamily="34" charset="-122"/>
                <a:cs typeface="Arial" pitchFamily="34" charset="-120"/>
              </a:rPr>
              <a:t>The output</a:t>
            </a:r>
            <a:endParaRPr lang="en-US" sz="1800" dirty="0"/>
          </a:p>
        </p:txBody>
      </p:sp>
      <p:sp>
        <p:nvSpPr>
          <p:cNvPr id="17" name="Text 14"/>
          <p:cNvSpPr txBox="1"/>
          <p:nvPr/>
        </p:nvSpPr>
        <p:spPr>
          <a:xfrm>
            <a:off x="1234440" y="3767328"/>
            <a:ext cx="5760720" cy="36576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Markdown, and how one source file becomes every report format you need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3A5C"/>
        </a:solidFill>
        <a:effectLst/>
      </p:bgPr>
    </p:bg>
    <p:spTree>
      <p:nvGrpSpPr>
        <p:cNvPr id="1" name=""/>
        <p:cNvGrpSpPr/>
        <p:nvPr/>
      </p:nvGrpSpPr>
      <p:grpSpPr>
        <a:xfrm>
          <a:off x="0" y="0"/>
          <a:ext cx="0" cy="0"/>
          <a:chOff x="0" y="0"/>
          <a:chExt cx="0" cy="0"/>
        </a:xfrm>
      </p:grpSpPr>
      <p:sp>
        <p:nvSpPr>
          <p:cNvPr id="2" name="Text 0"/>
          <p:cNvSpPr txBox="1"/>
          <p:nvPr/>
        </p:nvSpPr>
        <p:spPr>
          <a:xfrm>
            <a:off x="502920" y="1600200"/>
            <a:ext cx="8138160" cy="365760"/>
          </a:xfrm>
          <a:prstGeom prst="rect">
            <a:avLst/>
          </a:prstGeom>
          <a:noFill/>
          <a:ln/>
        </p:spPr>
        <p:txBody>
          <a:bodyPr wrap="square" lIns="0" tIns="0" rIns="0" bIns="0" rtlCol="0" anchor="ctr"/>
          <a:lstStyle/>
          <a:p>
            <a:pPr marL="0" indent="0">
              <a:buNone/>
            </a:pPr>
            <a:r>
              <a:rPr lang="en-US" sz="1600" dirty="0">
                <a:solidFill>
                  <a:srgbClr val="7BAFD4"/>
                </a:solidFill>
                <a:latin typeface="Arial" pitchFamily="34" charset="0"/>
                <a:ea typeface="Arial" pitchFamily="34" charset="-122"/>
                <a:cs typeface="Arial" pitchFamily="34" charset="-120"/>
              </a:rPr>
              <a:t>Part 1</a:t>
            </a:r>
            <a:endParaRPr lang="en-US" sz="1600" dirty="0"/>
          </a:p>
        </p:txBody>
      </p:sp>
      <p:sp>
        <p:nvSpPr>
          <p:cNvPr id="3" name="Text 1"/>
          <p:cNvSpPr txBox="1"/>
          <p:nvPr/>
        </p:nvSpPr>
        <p:spPr>
          <a:xfrm>
            <a:off x="502920" y="1965960"/>
            <a:ext cx="8138160" cy="8229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The folder</a:t>
            </a:r>
            <a:endParaRPr lang="en-US" sz="3400" dirty="0"/>
          </a:p>
        </p:txBody>
      </p:sp>
      <p:sp>
        <p:nvSpPr>
          <p:cNvPr id="4" name="Shape 2"/>
          <p:cNvSpPr/>
          <p:nvPr/>
        </p:nvSpPr>
        <p:spPr>
          <a:xfrm>
            <a:off x="502920" y="2852928"/>
            <a:ext cx="2194560" cy="54864"/>
          </a:xfrm>
          <a:prstGeom prst="rect">
            <a:avLst/>
          </a:prstGeom>
          <a:solidFill>
            <a:srgbClr val="2E75B6"/>
          </a:solidFill>
          <a:ln w="12700">
            <a:solidFill>
              <a:srgbClr val="2E75B6"/>
            </a:solidFill>
            <a:prstDash val="solid"/>
          </a:ln>
        </p:spPr>
      </p:sp>
      <p:sp>
        <p:nvSpPr>
          <p:cNvPr id="5" name="Text 3"/>
          <p:cNvSpPr txBox="1"/>
          <p:nvPr/>
        </p:nvSpPr>
        <p:spPr>
          <a:xfrm>
            <a:off x="502920" y="3108960"/>
            <a:ext cx="6583680" cy="640080"/>
          </a:xfrm>
          <a:prstGeom prst="rect">
            <a:avLst/>
          </a:prstGeom>
          <a:noFill/>
          <a:ln/>
        </p:spPr>
        <p:txBody>
          <a:bodyPr wrap="square" lIns="0" tIns="0" rIns="0" bIns="0" rtlCol="0" anchor="ctr"/>
          <a:lstStyle/>
          <a:p>
            <a:pPr marL="0" indent="0">
              <a:buNone/>
            </a:pPr>
            <a:r>
              <a:rPr lang="en-US" sz="1700" dirty="0">
                <a:solidFill>
                  <a:srgbClr val="CADCFC"/>
                </a:solidFill>
                <a:latin typeface="Arial" pitchFamily="34" charset="0"/>
                <a:ea typeface="Arial" pitchFamily="34" charset="-122"/>
                <a:cs typeface="Arial" pitchFamily="34" charset="-120"/>
              </a:rPr>
              <a:t>Where things live, and why the layout is a decision worth making once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 reproducible project is one self-contained folder with one obvious entry point</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Self-contained</a:t>
            </a:r>
            <a:endParaRPr lang="en-US" sz="1800" dirty="0"/>
          </a:p>
        </p:txBody>
      </p:sp>
      <p:sp>
        <p:nvSpPr>
          <p:cNvPr id="5" name="Text 2"/>
          <p:cNvSpPr txBox="1"/>
          <p:nvPr/>
        </p:nvSpPr>
        <p:spPr>
          <a:xfrm>
            <a:off x="502920" y="1517904"/>
            <a:ext cx="3977640" cy="1463040"/>
          </a:xfrm>
          <a:prstGeom prst="rect">
            <a:avLst/>
          </a:prstGeom>
          <a:noFill/>
          <a:ln/>
        </p:spPr>
        <p:txBody>
          <a:bodyPr wrap="square" lIns="0" tIns="0" rIns="0" bIns="0" rtlCol="0" anchor="ctr"/>
          <a:lstStyle/>
          <a:p>
            <a:pPr marL="342900" indent="-342900">
              <a:spcAft>
                <a:spcPts val="900"/>
              </a:spcAft>
              <a:buSzPct val="100000"/>
              <a:buChar char="•"/>
            </a:pPr>
            <a:r>
              <a:rPr lang="en-US" sz="1500" dirty="0">
                <a:solidFill>
                  <a:srgbClr val="2D2D2D"/>
                </a:solidFill>
                <a:latin typeface="Arial" pitchFamily="34" charset="0"/>
                <a:ea typeface="Arial" pitchFamily="34" charset="-122"/>
                <a:cs typeface="Arial" pitchFamily="34" charset="-120"/>
              </a:rPr>
              <a:t>Everything the analysis needs is inside the folder</a:t>
            </a:r>
            <a:endParaRPr lang="en-US" sz="1500" dirty="0"/>
          </a:p>
          <a:p>
            <a:pPr marL="342900" indent="-342900">
              <a:spcAft>
                <a:spcPts val="900"/>
              </a:spcAft>
              <a:buSzPct val="100000"/>
              <a:buChar char="•"/>
            </a:pPr>
            <a:r>
              <a:rPr lang="en-US" sz="1500" dirty="0">
                <a:solidFill>
                  <a:srgbClr val="2D2D2D"/>
                </a:solidFill>
                <a:latin typeface="Arial" pitchFamily="34" charset="0"/>
                <a:ea typeface="Arial" pitchFamily="34" charset="-122"/>
                <a:cs typeface="Arial" pitchFamily="34" charset="-120"/>
              </a:rPr>
              <a:t>Nothing depends on where the folder sits on disk</a:t>
            </a:r>
            <a:endParaRPr lang="en-US" sz="1500" dirty="0"/>
          </a:p>
          <a:p>
            <a:pPr marL="342900" indent="-342900">
              <a:spcAft>
                <a:spcPts val="900"/>
              </a:spcAft>
              <a:buSzPct val="100000"/>
              <a:buChar char="•"/>
            </a:pPr>
            <a:r>
              <a:rPr lang="en-US" sz="1500" dirty="0">
                <a:solidFill>
                  <a:srgbClr val="2D2D2D"/>
                </a:solidFill>
                <a:latin typeface="Arial" pitchFamily="34" charset="0"/>
                <a:ea typeface="Arial" pitchFamily="34" charset="-122"/>
                <a:cs typeface="Arial" pitchFamily="34" charset="-120"/>
              </a:rPr>
              <a:t>Copy it, zip it, or clone it and it still runs</a:t>
            </a:r>
            <a:endParaRPr lang="en-US" sz="1500" dirty="0"/>
          </a:p>
        </p:txBody>
      </p:sp>
      <p:sp>
        <p:nvSpPr>
          <p:cNvPr id="6" name="Text 3"/>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One obvious entry point</a:t>
            </a:r>
            <a:endParaRPr lang="en-US" sz="1800" dirty="0"/>
          </a:p>
        </p:txBody>
      </p:sp>
      <p:sp>
        <p:nvSpPr>
          <p:cNvPr id="7" name="Text 4"/>
          <p:cNvSpPr txBox="1"/>
          <p:nvPr/>
        </p:nvSpPr>
        <p:spPr>
          <a:xfrm>
            <a:off x="4709160" y="1517904"/>
            <a:ext cx="3931920" cy="1463040"/>
          </a:xfrm>
          <a:prstGeom prst="rect">
            <a:avLst/>
          </a:prstGeom>
          <a:noFill/>
          <a:ln/>
        </p:spPr>
        <p:txBody>
          <a:bodyPr wrap="square" lIns="0" tIns="0" rIns="0" bIns="0" rtlCol="0" anchor="ctr"/>
          <a:lstStyle/>
          <a:p>
            <a:pPr marL="342900" indent="-342900">
              <a:spcAft>
                <a:spcPts val="900"/>
              </a:spcAft>
              <a:buSzPct val="100000"/>
              <a:buChar char="•"/>
            </a:pPr>
            <a:r>
              <a:rPr lang="en-US" sz="1500" dirty="0">
                <a:solidFill>
                  <a:srgbClr val="2D2D2D"/>
                </a:solidFill>
                <a:latin typeface="Arial" pitchFamily="34" charset="0"/>
                <a:ea typeface="Arial" pitchFamily="34" charset="-122"/>
                <a:cs typeface="Arial" pitchFamily="34" charset="-120"/>
              </a:rPr>
              <a:t>A README that says what to run, in what order</a:t>
            </a:r>
            <a:endParaRPr lang="en-US" sz="1500" dirty="0"/>
          </a:p>
          <a:p>
            <a:pPr marL="342900" indent="-342900">
              <a:spcAft>
                <a:spcPts val="900"/>
              </a:spcAft>
              <a:buSzPct val="100000"/>
              <a:buChar char="•"/>
            </a:pPr>
            <a:r>
              <a:rPr lang="en-US" sz="1500" dirty="0">
                <a:solidFill>
                  <a:srgbClr val="2D2D2D"/>
                </a:solidFill>
                <a:latin typeface="Arial" pitchFamily="34" charset="0"/>
                <a:ea typeface="Arial" pitchFamily="34" charset="-122"/>
                <a:cs typeface="Arial" pitchFamily="34" charset="-120"/>
              </a:rPr>
              <a:t>One .Rproj file, so paths resolve from the root</a:t>
            </a:r>
            <a:endParaRPr lang="en-US" sz="1500" dirty="0"/>
          </a:p>
          <a:p>
            <a:pPr marL="342900" indent="-342900">
              <a:spcAft>
                <a:spcPts val="900"/>
              </a:spcAft>
              <a:buSzPct val="100000"/>
              <a:buChar char="•"/>
            </a:pPr>
            <a:r>
              <a:rPr lang="en-US" sz="1500" dirty="0">
                <a:solidFill>
                  <a:srgbClr val="2D2D2D"/>
                </a:solidFill>
                <a:latin typeface="Arial" pitchFamily="34" charset="0"/>
                <a:ea typeface="Arial" pitchFamily="34" charset="-122"/>
                <a:cs typeface="Arial" pitchFamily="34" charset="-120"/>
              </a:rPr>
              <a:t>Scripts named so the order is visible at a glance</a:t>
            </a:r>
            <a:endParaRPr lang="en-US" sz="1500" dirty="0"/>
          </a:p>
        </p:txBody>
      </p:sp>
      <p:sp>
        <p:nvSpPr>
          <p:cNvPr id="8" name="Shape 5"/>
          <p:cNvSpPr/>
          <p:nvPr/>
        </p:nvSpPr>
        <p:spPr>
          <a:xfrm>
            <a:off x="502920" y="3127248"/>
            <a:ext cx="8138160" cy="658368"/>
          </a:xfrm>
          <a:prstGeom prst="roundRect">
            <a:avLst>
              <a:gd name="adj" fmla="val 8333"/>
            </a:avLst>
          </a:prstGeom>
          <a:solidFill>
            <a:srgbClr val="FFF2CC"/>
          </a:solidFill>
          <a:ln w="12700">
            <a:solidFill>
              <a:srgbClr val="E0A800"/>
            </a:solidFill>
            <a:prstDash val="solid"/>
          </a:ln>
        </p:spPr>
      </p:sp>
      <p:sp>
        <p:nvSpPr>
          <p:cNvPr id="9" name="Text 6"/>
          <p:cNvSpPr txBox="1"/>
          <p:nvPr/>
        </p:nvSpPr>
        <p:spPr>
          <a:xfrm>
            <a:off x="640080" y="3182112"/>
            <a:ext cx="7863840" cy="548640"/>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The test: hand the folder to a classmate who has never seen it. If they need to ask you a single question before running it, it is not finished.</a:t>
            </a:r>
            <a:endParaRPr lang="en-US" sz="1500" dirty="0"/>
          </a:p>
        </p:txBody>
      </p:sp>
      <p:sp>
        <p:nvSpPr>
          <p:cNvPr id="10" name="Text 7"/>
          <p:cNvSpPr txBox="1"/>
          <p:nvPr/>
        </p:nvSpPr>
        <p:spPr>
          <a:xfrm>
            <a:off x="502920" y="3968496"/>
            <a:ext cx="8138160" cy="45720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This folder is also the unit of version control — one project, one repository, as in last week's session.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One layout works for almost every analysis project you will do</a:t>
            </a:r>
            <a:endParaRPr lang="en-US" sz="2400" dirty="0"/>
          </a:p>
        </p:txBody>
      </p:sp>
      <p:sp>
        <p:nvSpPr>
          <p:cNvPr id="4" name="Shape 1"/>
          <p:cNvSpPr/>
          <p:nvPr/>
        </p:nvSpPr>
        <p:spPr>
          <a:xfrm>
            <a:off x="502920" y="1170432"/>
            <a:ext cx="4206240" cy="2880360"/>
          </a:xfrm>
          <a:prstGeom prst="roundRect">
            <a:avLst>
              <a:gd name="adj" fmla="val 1587"/>
            </a:avLst>
          </a:prstGeom>
          <a:solidFill>
            <a:srgbClr val="F1F4F8"/>
          </a:solidFill>
          <a:ln w="12700">
            <a:solidFill>
              <a:srgbClr val="D6DEE8"/>
            </a:solidFill>
            <a:prstDash val="solid"/>
          </a:ln>
        </p:spPr>
      </p:sp>
      <p:sp>
        <p:nvSpPr>
          <p:cNvPr id="5" name="Text 2"/>
          <p:cNvSpPr txBox="1"/>
          <p:nvPr/>
        </p:nvSpPr>
        <p:spPr>
          <a:xfrm>
            <a:off x="630936" y="1243584"/>
            <a:ext cx="3950208" cy="2734056"/>
          </a:xfrm>
          <a:prstGeom prst="rect">
            <a:avLst/>
          </a:prstGeom>
          <a:noFill/>
          <a:ln/>
        </p:spPr>
        <p:txBody>
          <a:bodyPr wrap="square" lIns="0" tIns="0" rIns="0" bIns="0" rtlCol="0" anchor="t"/>
          <a:lstStyle/>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sales-forecast/</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README.md</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sales-forecast.Rproj</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.gitignore</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data/</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raw/          </a:t>
            </a:r>
            <a:r>
              <a:rPr lang="en-US" sz="1200" dirty="0">
                <a:solidFill>
                  <a:srgbClr val="2D2D2D"/>
                </a:solidFill>
                <a:highlight>
                  <a:srgbClr val="FFFF00"/>
                </a:highlight>
                <a:latin typeface="Courier New" pitchFamily="34" charset="0"/>
                <a:ea typeface="Courier New" pitchFamily="34" charset="-122"/>
                <a:cs typeface="Courier New" pitchFamily="34" charset="-120"/>
              </a:rPr>
              <a:t>&lt;- never edited</a:t>
            </a:r>
            <a:endParaRPr lang="en-US" sz="1200" dirty="0">
              <a:highlight>
                <a:srgbClr val="FFFF00"/>
              </a:highlight>
            </a:endParaRPr>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process/      </a:t>
            </a:r>
            <a:r>
              <a:rPr lang="en-US" sz="1200" dirty="0">
                <a:solidFill>
                  <a:srgbClr val="2D2D2D"/>
                </a:solidFill>
                <a:highlight>
                  <a:srgbClr val="FFFF00"/>
                </a:highlight>
                <a:latin typeface="Courier New" pitchFamily="34" charset="0"/>
                <a:ea typeface="Courier New" pitchFamily="34" charset="-122"/>
                <a:cs typeface="Courier New" pitchFamily="34" charset="-120"/>
              </a:rPr>
              <a:t>&lt;- regenerated</a:t>
            </a:r>
            <a:endParaRPr lang="en-US" sz="1200" dirty="0">
              <a:highlight>
                <a:srgbClr val="FFFF00"/>
              </a:highlight>
            </a:endParaRPr>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R/              &lt;- helper functions</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scripts/</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01_clean.R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02_model.R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outputs/        &lt;- figures, tables</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report.qmd      &lt;- the deliverable</a:t>
            </a:r>
            <a:endParaRPr lang="en-US" sz="1200" dirty="0"/>
          </a:p>
        </p:txBody>
      </p:sp>
      <p:sp>
        <p:nvSpPr>
          <p:cNvPr id="6" name="Text 3"/>
          <p:cNvSpPr txBox="1"/>
          <p:nvPr/>
        </p:nvSpPr>
        <p:spPr>
          <a:xfrm>
            <a:off x="4937760" y="1170432"/>
            <a:ext cx="37033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The three-way split</a:t>
            </a:r>
            <a:endParaRPr lang="en-US" sz="1800" dirty="0"/>
          </a:p>
        </p:txBody>
      </p:sp>
      <p:sp>
        <p:nvSpPr>
          <p:cNvPr id="7" name="Text 4"/>
          <p:cNvSpPr txBox="1"/>
          <p:nvPr/>
        </p:nvSpPr>
        <p:spPr>
          <a:xfrm>
            <a:off x="4937760" y="1517904"/>
            <a:ext cx="3703320" cy="1554480"/>
          </a:xfrm>
          <a:prstGeom prst="rect">
            <a:avLst/>
          </a:prstGeom>
          <a:noFill/>
          <a:ln/>
        </p:spPr>
        <p:txBody>
          <a:bodyPr wrap="square" lIns="0" tIns="0" rIns="0" bIns="0" rtlCol="0" anchor="ctr"/>
          <a:lstStyle/>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Inputs: </a:t>
            </a:r>
            <a:r>
              <a:rPr lang="en-US" sz="1400" dirty="0">
                <a:solidFill>
                  <a:srgbClr val="2D2D2D"/>
                </a:solidFill>
                <a:latin typeface="Arial" pitchFamily="34" charset="0"/>
                <a:ea typeface="Arial" pitchFamily="34" charset="-122"/>
                <a:cs typeface="Arial" pitchFamily="34" charset="-120"/>
              </a:rPr>
              <a:t>data/raw, never touched by code</a:t>
            </a:r>
            <a:endParaRPr lang="en-US" sz="1400" dirty="0"/>
          </a:p>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Process: </a:t>
            </a:r>
            <a:r>
              <a:rPr lang="en-US" sz="1400" dirty="0">
                <a:solidFill>
                  <a:srgbClr val="2D2D2D"/>
                </a:solidFill>
                <a:latin typeface="Arial" pitchFamily="34" charset="0"/>
                <a:ea typeface="Arial" pitchFamily="34" charset="-122"/>
                <a:cs typeface="Arial" pitchFamily="34" charset="-120"/>
              </a:rPr>
              <a:t>R/ and scripts/, all your logic</a:t>
            </a:r>
            <a:endParaRPr lang="en-US" sz="1400" dirty="0"/>
          </a:p>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Outputs: </a:t>
            </a:r>
            <a:r>
              <a:rPr lang="en-US" sz="1400" dirty="0">
                <a:solidFill>
                  <a:srgbClr val="2D2D2D"/>
                </a:solidFill>
                <a:latin typeface="Arial" pitchFamily="34" charset="0"/>
                <a:ea typeface="Arial" pitchFamily="34" charset="-122"/>
                <a:cs typeface="Arial" pitchFamily="34" charset="-120"/>
              </a:rPr>
              <a:t>outputs/ and the report, all regenerated</a:t>
            </a:r>
            <a:endParaRPr lang="en-US" sz="1400" dirty="0"/>
          </a:p>
        </p:txBody>
      </p:sp>
      <p:sp>
        <p:nvSpPr>
          <p:cNvPr id="8" name="Shape 5"/>
          <p:cNvSpPr/>
          <p:nvPr/>
        </p:nvSpPr>
        <p:spPr>
          <a:xfrm>
            <a:off x="4937760" y="3200400"/>
            <a:ext cx="3703320" cy="822960"/>
          </a:xfrm>
          <a:prstGeom prst="roundRect">
            <a:avLst>
              <a:gd name="adj" fmla="val 6667"/>
            </a:avLst>
          </a:prstGeom>
          <a:solidFill>
            <a:srgbClr val="FFF2CC"/>
          </a:solidFill>
          <a:ln w="12700">
            <a:solidFill>
              <a:srgbClr val="E0A800"/>
            </a:solidFill>
            <a:prstDash val="solid"/>
          </a:ln>
        </p:spPr>
      </p:sp>
      <p:sp>
        <p:nvSpPr>
          <p:cNvPr id="9" name="Text 6"/>
          <p:cNvSpPr txBox="1"/>
          <p:nvPr/>
        </p:nvSpPr>
        <p:spPr>
          <a:xfrm>
            <a:off x="5074920" y="3255264"/>
            <a:ext cx="3429000" cy="713232"/>
          </a:xfrm>
          <a:prstGeom prst="rect">
            <a:avLst/>
          </a:prstGeom>
          <a:noFill/>
          <a:ln/>
        </p:spPr>
        <p:txBody>
          <a:bodyPr wrap="square" lIns="0" tIns="0" rIns="0" bIns="0" rtlCol="0" anchor="ctr"/>
          <a:lstStyle/>
          <a:p>
            <a:pPr marL="0" indent="0" algn="l">
              <a:buNone/>
            </a:pPr>
            <a:r>
              <a:rPr lang="en-US" sz="1350" b="1" dirty="0">
                <a:solidFill>
                  <a:srgbClr val="7A5200"/>
                </a:solidFill>
                <a:latin typeface="Arial" pitchFamily="34" charset="0"/>
                <a:ea typeface="Arial" pitchFamily="34" charset="-122"/>
                <a:cs typeface="Arial" pitchFamily="34" charset="-120"/>
              </a:rPr>
              <a:t>Anything in outputs/ can be deleted and rebuilt by rerunning the code. That is the test for whether it belongs there.</a:t>
            </a:r>
            <a:endParaRPr lang="en-US" sz="1350" dirty="0"/>
          </a:p>
        </p:txBody>
      </p:sp>
      <p:sp>
        <p:nvSpPr>
          <p:cNvPr id="10" name="Text 7"/>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Layout follows common R project conventions; see Posit (2026) and the here and renv package documentation.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Raw data is read-only — every other file is something the code can rebuild</a:t>
            </a:r>
            <a:endParaRPr lang="en-US" sz="2400" dirty="0"/>
          </a:p>
        </p:txBody>
      </p:sp>
      <p:sp>
        <p:nvSpPr>
          <p:cNvPr id="4" name="Shape 1"/>
          <p:cNvSpPr/>
          <p:nvPr/>
        </p:nvSpPr>
        <p:spPr>
          <a:xfrm>
            <a:off x="502920" y="1325880"/>
            <a:ext cx="2468880" cy="1051560"/>
          </a:xfrm>
          <a:prstGeom prst="roundRect">
            <a:avLst>
              <a:gd name="adj" fmla="val 6957"/>
            </a:avLst>
          </a:prstGeom>
          <a:solidFill>
            <a:srgbClr val="EBF3FA"/>
          </a:solidFill>
          <a:ln w="12700">
            <a:solidFill>
              <a:srgbClr val="2E75B6"/>
            </a:solidFill>
            <a:prstDash val="solid"/>
          </a:ln>
        </p:spPr>
      </p:sp>
      <p:sp>
        <p:nvSpPr>
          <p:cNvPr id="5" name="Text 2"/>
          <p:cNvSpPr txBox="1"/>
          <p:nvPr/>
        </p:nvSpPr>
        <p:spPr>
          <a:xfrm>
            <a:off x="502920" y="1417320"/>
            <a:ext cx="2468880" cy="310896"/>
          </a:xfrm>
          <a:prstGeom prst="rect">
            <a:avLst/>
          </a:prstGeom>
          <a:noFill/>
          <a:ln/>
        </p:spPr>
        <p:txBody>
          <a:bodyPr wrap="square" lIns="0" tIns="0" rIns="0" bIns="0" rtlCol="0" anchor="ctr"/>
          <a:lstStyle/>
          <a:p>
            <a:pPr marL="0" indent="0" algn="ctr">
              <a:buNone/>
            </a:pPr>
            <a:r>
              <a:rPr lang="en-US" sz="1700" b="1" dirty="0">
                <a:solidFill>
                  <a:srgbClr val="1F4E79"/>
                </a:solidFill>
                <a:latin typeface="Arial" pitchFamily="34" charset="0"/>
                <a:ea typeface="Arial" pitchFamily="34" charset="-122"/>
                <a:cs typeface="Arial" pitchFamily="34" charset="-120"/>
              </a:rPr>
              <a:t>data/raw</a:t>
            </a:r>
            <a:endParaRPr lang="en-US" sz="1700" dirty="0"/>
          </a:p>
        </p:txBody>
      </p:sp>
      <p:sp>
        <p:nvSpPr>
          <p:cNvPr id="6" name="Text 3"/>
          <p:cNvSpPr txBox="1"/>
          <p:nvPr/>
        </p:nvSpPr>
        <p:spPr>
          <a:xfrm>
            <a:off x="502920" y="1755648"/>
            <a:ext cx="2468880" cy="548640"/>
          </a:xfrm>
          <a:prstGeom prst="rect">
            <a:avLst/>
          </a:prstGeom>
          <a:noFill/>
          <a:ln/>
        </p:spPr>
        <p:txBody>
          <a:bodyPr wrap="square" lIns="0" tIns="0" rIns="0" bIns="0" rtlCol="0" anchor="t"/>
          <a:lstStyle/>
          <a:p>
            <a:pPr marL="0" indent="0" algn="ctr">
              <a:buNone/>
            </a:pPr>
            <a:r>
              <a:rPr lang="en-US" sz="1350" dirty="0">
                <a:solidFill>
                  <a:srgbClr val="2D2D2D"/>
                </a:solidFill>
                <a:latin typeface="Arial" pitchFamily="34" charset="0"/>
                <a:ea typeface="Arial" pitchFamily="34" charset="-122"/>
                <a:cs typeface="Arial" pitchFamily="34" charset="-120"/>
              </a:rPr>
              <a:t>exactly as it arrived</a:t>
            </a:r>
            <a:endParaRPr lang="en-US" sz="1350" dirty="0"/>
          </a:p>
          <a:p>
            <a:pPr marL="0" indent="0" algn="ctr">
              <a:buNone/>
            </a:pPr>
            <a:r>
              <a:rPr lang="en-US" sz="1350" dirty="0">
                <a:solidFill>
                  <a:srgbClr val="2D2D2D"/>
                </a:solidFill>
                <a:latin typeface="Arial" pitchFamily="34" charset="0"/>
                <a:ea typeface="Arial" pitchFamily="34" charset="-122"/>
                <a:cs typeface="Arial" pitchFamily="34" charset="-120"/>
              </a:rPr>
              <a:t>never edited, ever</a:t>
            </a:r>
            <a:endParaRPr lang="en-US" sz="1350" dirty="0"/>
          </a:p>
        </p:txBody>
      </p:sp>
      <p:sp>
        <p:nvSpPr>
          <p:cNvPr id="7" name="Shape 4"/>
          <p:cNvSpPr/>
          <p:nvPr/>
        </p:nvSpPr>
        <p:spPr>
          <a:xfrm>
            <a:off x="3108960" y="1737360"/>
            <a:ext cx="594360" cy="237744"/>
          </a:xfrm>
          <a:prstGeom prst="rightArrow">
            <a:avLst/>
          </a:prstGeom>
          <a:solidFill>
            <a:srgbClr val="2E75B6"/>
          </a:solidFill>
          <a:ln w="12700">
            <a:solidFill>
              <a:srgbClr val="2E75B6"/>
            </a:solidFill>
            <a:prstDash val="solid"/>
          </a:ln>
        </p:spPr>
      </p:sp>
      <p:sp>
        <p:nvSpPr>
          <p:cNvPr id="8" name="Shape 5"/>
          <p:cNvSpPr/>
          <p:nvPr/>
        </p:nvSpPr>
        <p:spPr>
          <a:xfrm>
            <a:off x="2889504" y="2404872"/>
            <a:ext cx="1033272" cy="274320"/>
          </a:xfrm>
          <a:prstGeom prst="roundRect">
            <a:avLst>
              <a:gd name="adj" fmla="val 16667"/>
            </a:avLst>
          </a:prstGeom>
          <a:solidFill>
            <a:srgbClr val="F1F4F8"/>
          </a:solidFill>
          <a:ln w="12700">
            <a:solidFill>
              <a:srgbClr val="D6DEE8"/>
            </a:solidFill>
            <a:prstDash val="solid"/>
          </a:ln>
        </p:spPr>
      </p:sp>
      <p:sp>
        <p:nvSpPr>
          <p:cNvPr id="9" name="Text 6"/>
          <p:cNvSpPr txBox="1"/>
          <p:nvPr/>
        </p:nvSpPr>
        <p:spPr>
          <a:xfrm>
            <a:off x="3017520" y="2478024"/>
            <a:ext cx="777240" cy="128016"/>
          </a:xfrm>
          <a:prstGeom prst="rect">
            <a:avLst/>
          </a:prstGeom>
          <a:noFill/>
          <a:ln/>
        </p:spPr>
        <p:txBody>
          <a:bodyPr wrap="square" lIns="0" tIns="0" rIns="0" bIns="0" rtlCol="0" anchor="ctr"/>
          <a:lstStyle/>
          <a:p>
            <a:pPr marL="0" indent="0">
              <a:lnSpc>
                <a:spcPct val="115000"/>
              </a:lnSpc>
              <a:buNone/>
            </a:pPr>
            <a:r>
              <a:rPr lang="en-US" sz="1000" dirty="0">
                <a:solidFill>
                  <a:srgbClr val="1F4E79"/>
                </a:solidFill>
                <a:latin typeface="Courier New" pitchFamily="34" charset="0"/>
                <a:ea typeface="Courier New" pitchFamily="34" charset="-122"/>
                <a:cs typeface="Courier New" pitchFamily="34" charset="-120"/>
              </a:rPr>
              <a:t>01_clean.R</a:t>
            </a:r>
            <a:endParaRPr lang="en-US" sz="1000" dirty="0"/>
          </a:p>
        </p:txBody>
      </p:sp>
      <p:sp>
        <p:nvSpPr>
          <p:cNvPr id="10" name="Shape 7"/>
          <p:cNvSpPr/>
          <p:nvPr/>
        </p:nvSpPr>
        <p:spPr>
          <a:xfrm>
            <a:off x="4023360" y="1325880"/>
            <a:ext cx="2468880" cy="1051560"/>
          </a:xfrm>
          <a:prstGeom prst="roundRect">
            <a:avLst>
              <a:gd name="adj" fmla="val 6957"/>
            </a:avLst>
          </a:prstGeom>
          <a:solidFill>
            <a:srgbClr val="EBF3FA"/>
          </a:solidFill>
          <a:ln w="12700">
            <a:solidFill>
              <a:srgbClr val="2E75B6"/>
            </a:solidFill>
            <a:prstDash val="solid"/>
          </a:ln>
        </p:spPr>
      </p:sp>
      <p:sp>
        <p:nvSpPr>
          <p:cNvPr id="11" name="Text 8"/>
          <p:cNvSpPr txBox="1"/>
          <p:nvPr/>
        </p:nvSpPr>
        <p:spPr>
          <a:xfrm>
            <a:off x="4023360" y="1417320"/>
            <a:ext cx="2468880" cy="310896"/>
          </a:xfrm>
          <a:prstGeom prst="rect">
            <a:avLst/>
          </a:prstGeom>
          <a:noFill/>
          <a:ln/>
        </p:spPr>
        <p:txBody>
          <a:bodyPr wrap="square" lIns="0" tIns="0" rIns="0" bIns="0" rtlCol="0" anchor="ctr"/>
          <a:lstStyle/>
          <a:p>
            <a:pPr marL="0" indent="0" algn="ctr">
              <a:buNone/>
            </a:pPr>
            <a:r>
              <a:rPr lang="en-US" sz="1700" b="1" dirty="0">
                <a:solidFill>
                  <a:srgbClr val="1F4E79"/>
                </a:solidFill>
                <a:latin typeface="Arial" pitchFamily="34" charset="0"/>
                <a:ea typeface="Arial" pitchFamily="34" charset="-122"/>
                <a:cs typeface="Arial" pitchFamily="34" charset="-120"/>
              </a:rPr>
              <a:t>data/processed</a:t>
            </a:r>
            <a:endParaRPr lang="en-US" sz="1700" dirty="0"/>
          </a:p>
        </p:txBody>
      </p:sp>
      <p:sp>
        <p:nvSpPr>
          <p:cNvPr id="12" name="Text 9"/>
          <p:cNvSpPr txBox="1"/>
          <p:nvPr/>
        </p:nvSpPr>
        <p:spPr>
          <a:xfrm>
            <a:off x="4023360" y="1755648"/>
            <a:ext cx="2468880" cy="548640"/>
          </a:xfrm>
          <a:prstGeom prst="rect">
            <a:avLst/>
          </a:prstGeom>
          <a:noFill/>
          <a:ln/>
        </p:spPr>
        <p:txBody>
          <a:bodyPr wrap="square" lIns="0" tIns="0" rIns="0" bIns="0" rtlCol="0" anchor="t"/>
          <a:lstStyle/>
          <a:p>
            <a:pPr marL="0" indent="0" algn="ctr">
              <a:buNone/>
            </a:pPr>
            <a:r>
              <a:rPr lang="en-US" sz="1350" dirty="0">
                <a:solidFill>
                  <a:srgbClr val="2D2D2D"/>
                </a:solidFill>
                <a:latin typeface="Arial" pitchFamily="34" charset="0"/>
                <a:ea typeface="Arial" pitchFamily="34" charset="-122"/>
                <a:cs typeface="Arial" pitchFamily="34" charset="-120"/>
              </a:rPr>
              <a:t>written by code only</a:t>
            </a:r>
            <a:endParaRPr lang="en-US" sz="1350" dirty="0"/>
          </a:p>
          <a:p>
            <a:pPr marL="0" indent="0" algn="ctr">
              <a:buNone/>
            </a:pPr>
            <a:r>
              <a:rPr lang="en-US" sz="1350" dirty="0">
                <a:solidFill>
                  <a:srgbClr val="2D2D2D"/>
                </a:solidFill>
                <a:latin typeface="Arial" pitchFamily="34" charset="0"/>
                <a:ea typeface="Arial" pitchFamily="34" charset="-122"/>
                <a:cs typeface="Arial" pitchFamily="34" charset="-120"/>
              </a:rPr>
              <a:t>safe to delete</a:t>
            </a:r>
            <a:endParaRPr lang="en-US" sz="1350" dirty="0"/>
          </a:p>
        </p:txBody>
      </p:sp>
      <p:sp>
        <p:nvSpPr>
          <p:cNvPr id="13" name="Shape 10"/>
          <p:cNvSpPr/>
          <p:nvPr/>
        </p:nvSpPr>
        <p:spPr>
          <a:xfrm>
            <a:off x="6629400" y="1737360"/>
            <a:ext cx="594360" cy="237744"/>
          </a:xfrm>
          <a:prstGeom prst="rightArrow">
            <a:avLst/>
          </a:prstGeom>
          <a:solidFill>
            <a:srgbClr val="2E75B6"/>
          </a:solidFill>
          <a:ln w="12700">
            <a:solidFill>
              <a:srgbClr val="2E75B6"/>
            </a:solidFill>
            <a:prstDash val="solid"/>
          </a:ln>
        </p:spPr>
      </p:sp>
      <p:sp>
        <p:nvSpPr>
          <p:cNvPr id="14" name="Shape 11"/>
          <p:cNvSpPr/>
          <p:nvPr/>
        </p:nvSpPr>
        <p:spPr>
          <a:xfrm>
            <a:off x="7360920" y="1325880"/>
            <a:ext cx="1280160" cy="1051560"/>
          </a:xfrm>
          <a:prstGeom prst="roundRect">
            <a:avLst>
              <a:gd name="adj" fmla="val 6957"/>
            </a:avLst>
          </a:prstGeom>
          <a:solidFill>
            <a:srgbClr val="1F4E79"/>
          </a:solidFill>
          <a:ln w="12700">
            <a:solidFill>
              <a:srgbClr val="1F4E79"/>
            </a:solidFill>
            <a:prstDash val="solid"/>
          </a:ln>
        </p:spPr>
      </p:sp>
      <p:sp>
        <p:nvSpPr>
          <p:cNvPr id="15" name="Text 12"/>
          <p:cNvSpPr txBox="1"/>
          <p:nvPr/>
        </p:nvSpPr>
        <p:spPr>
          <a:xfrm>
            <a:off x="7360920" y="1325880"/>
            <a:ext cx="128016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outputs</a:t>
            </a:r>
            <a:endParaRPr lang="en-US" sz="1500" dirty="0"/>
          </a:p>
        </p:txBody>
      </p:sp>
      <p:sp>
        <p:nvSpPr>
          <p:cNvPr id="16" name="Shape 13"/>
          <p:cNvSpPr/>
          <p:nvPr/>
        </p:nvSpPr>
        <p:spPr>
          <a:xfrm>
            <a:off x="502920" y="2798064"/>
            <a:ext cx="8138160" cy="640080"/>
          </a:xfrm>
          <a:prstGeom prst="roundRect">
            <a:avLst>
              <a:gd name="adj" fmla="val 8571"/>
            </a:avLst>
          </a:prstGeom>
          <a:solidFill>
            <a:srgbClr val="FFF2CC"/>
          </a:solidFill>
          <a:ln w="12700">
            <a:solidFill>
              <a:srgbClr val="E0A800"/>
            </a:solidFill>
            <a:prstDash val="solid"/>
          </a:ln>
        </p:spPr>
      </p:sp>
      <p:sp>
        <p:nvSpPr>
          <p:cNvPr id="17" name="Text 14"/>
          <p:cNvSpPr txBox="1"/>
          <p:nvPr/>
        </p:nvSpPr>
        <p:spPr>
          <a:xfrm>
            <a:off x="640080" y="2852928"/>
            <a:ext cx="7863840" cy="530352"/>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If you fixed something by editing the spreadsheet, the fix is invisible and cannot be repeated. Every correction belongs in a script.</a:t>
            </a:r>
            <a:endParaRPr lang="en-US" sz="1500" dirty="0"/>
          </a:p>
        </p:txBody>
      </p:sp>
      <p:sp>
        <p:nvSpPr>
          <p:cNvPr id="18" name="Text 15"/>
          <p:cNvSpPr txBox="1"/>
          <p:nvPr/>
        </p:nvSpPr>
        <p:spPr>
          <a:xfrm>
            <a:off x="502920" y="3584448"/>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In practice</a:t>
            </a:r>
            <a:endParaRPr lang="en-US" sz="1800" dirty="0"/>
          </a:p>
        </p:txBody>
      </p:sp>
      <p:sp>
        <p:nvSpPr>
          <p:cNvPr id="19" name="Text 16"/>
          <p:cNvSpPr txBox="1"/>
          <p:nvPr/>
        </p:nvSpPr>
        <p:spPr>
          <a:xfrm>
            <a:off x="502920" y="3877056"/>
            <a:ext cx="8138160" cy="914400"/>
          </a:xfrm>
          <a:prstGeom prst="rect">
            <a:avLst/>
          </a:prstGeom>
          <a:noFill/>
          <a:ln/>
        </p:spPr>
        <p:txBody>
          <a:bodyPr wrap="square" lIns="0" tIns="0" rIns="0" bIns="0" rtlCol="0" anchor="ctr"/>
          <a:lstStyle/>
          <a:p>
            <a:pPr marL="342900" indent="-342900">
              <a:spcAft>
                <a:spcPts val="500"/>
              </a:spcAft>
              <a:buSzPct val="100000"/>
              <a:buChar char="•"/>
            </a:pPr>
            <a:r>
              <a:rPr lang="en-US" sz="1400" dirty="0">
                <a:solidFill>
                  <a:srgbClr val="2D2D2D"/>
                </a:solidFill>
                <a:latin typeface="Arial" pitchFamily="34" charset="0"/>
                <a:ea typeface="Arial" pitchFamily="34" charset="-122"/>
                <a:cs typeface="Arial" pitchFamily="34" charset="-120"/>
              </a:rPr>
              <a:t>Set the files in data/raw to read-only in your operating system</a:t>
            </a:r>
            <a:endParaRPr lang="en-US" sz="1400" dirty="0"/>
          </a:p>
          <a:p>
            <a:pPr marL="342900" indent="-342900">
              <a:spcAft>
                <a:spcPts val="500"/>
              </a:spcAft>
              <a:buSzPct val="100000"/>
              <a:buChar char="•"/>
            </a:pPr>
            <a:r>
              <a:rPr lang="en-US" sz="1400" dirty="0">
                <a:solidFill>
                  <a:srgbClr val="2D2D2D"/>
                </a:solidFill>
                <a:latin typeface="Arial" pitchFamily="34" charset="0"/>
                <a:ea typeface="Arial" pitchFamily="34" charset="-122"/>
                <a:cs typeface="Arial" pitchFamily="34" charset="-120"/>
              </a:rPr>
              <a:t>Never open a raw file in Excel and press save</a:t>
            </a:r>
            <a:endParaRPr lang="en-US" sz="1400" dirty="0"/>
          </a:p>
          <a:p>
            <a:pPr marL="342900" indent="-342900">
              <a:spcAft>
                <a:spcPts val="500"/>
              </a:spcAft>
              <a:buSzPct val="100000"/>
              <a:buChar char="•"/>
            </a:pPr>
            <a:r>
              <a:rPr lang="en-US" sz="1400" dirty="0">
                <a:solidFill>
                  <a:srgbClr val="2D2D2D"/>
                </a:solidFill>
                <a:latin typeface="Arial" pitchFamily="34" charset="0"/>
                <a:ea typeface="Arial" pitchFamily="34" charset="-122"/>
                <a:cs typeface="Arial" pitchFamily="34" charset="-120"/>
              </a:rPr>
              <a:t>If the raw data is large or confidential, gitignore it and describe it in the README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Absolute paths are the most common reason code fails on another machine</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Breaks on every other machine</a:t>
            </a:r>
            <a:endParaRPr lang="en-US" sz="1800" dirty="0"/>
          </a:p>
        </p:txBody>
      </p:sp>
      <p:sp>
        <p:nvSpPr>
          <p:cNvPr id="5" name="Shape 2"/>
          <p:cNvSpPr/>
          <p:nvPr/>
        </p:nvSpPr>
        <p:spPr>
          <a:xfrm>
            <a:off x="502920" y="1499616"/>
            <a:ext cx="3977640" cy="868680"/>
          </a:xfrm>
          <a:prstGeom prst="roundRect">
            <a:avLst>
              <a:gd name="adj" fmla="val 5263"/>
            </a:avLst>
          </a:prstGeom>
          <a:solidFill>
            <a:srgbClr val="F1F4F8"/>
          </a:solidFill>
          <a:ln w="12700">
            <a:solidFill>
              <a:srgbClr val="D6DEE8"/>
            </a:solidFill>
            <a:prstDash val="solid"/>
          </a:ln>
        </p:spPr>
      </p:sp>
      <p:sp>
        <p:nvSpPr>
          <p:cNvPr id="6" name="Text 3"/>
          <p:cNvSpPr txBox="1"/>
          <p:nvPr/>
        </p:nvSpPr>
        <p:spPr>
          <a:xfrm>
            <a:off x="630936" y="1572768"/>
            <a:ext cx="3721608" cy="722376"/>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setwd("C:/Users/Jia/Desktop/proj")</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read.csv("C:/Users/Jia/Desktop/</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proj/data/raw/sales.csv")</a:t>
            </a:r>
            <a:endParaRPr lang="en-US" sz="1100" dirty="0"/>
          </a:p>
        </p:txBody>
      </p:sp>
      <p:sp>
        <p:nvSpPr>
          <p:cNvPr id="7" name="Text 4"/>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Works everywhere</a:t>
            </a:r>
            <a:endParaRPr lang="en-US" sz="1800" dirty="0"/>
          </a:p>
        </p:txBody>
      </p:sp>
      <p:sp>
        <p:nvSpPr>
          <p:cNvPr id="8" name="Shape 5"/>
          <p:cNvSpPr/>
          <p:nvPr/>
        </p:nvSpPr>
        <p:spPr>
          <a:xfrm>
            <a:off x="4709160" y="1499616"/>
            <a:ext cx="3931920" cy="868680"/>
          </a:xfrm>
          <a:prstGeom prst="roundRect">
            <a:avLst>
              <a:gd name="adj" fmla="val 5263"/>
            </a:avLst>
          </a:prstGeom>
          <a:solidFill>
            <a:srgbClr val="F1F4F8"/>
          </a:solidFill>
          <a:ln w="12700">
            <a:solidFill>
              <a:srgbClr val="D6DEE8"/>
            </a:solidFill>
            <a:prstDash val="solid"/>
          </a:ln>
        </p:spPr>
      </p:sp>
      <p:sp>
        <p:nvSpPr>
          <p:cNvPr id="9" name="Text 6"/>
          <p:cNvSpPr txBox="1"/>
          <p:nvPr/>
        </p:nvSpPr>
        <p:spPr>
          <a:xfrm>
            <a:off x="4837176" y="1572768"/>
            <a:ext cx="3675888" cy="722376"/>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library(here)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read.csv(here("data", "raw",</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"sales.csv"))</a:t>
            </a:r>
            <a:endParaRPr lang="en-US" sz="1100" dirty="0"/>
          </a:p>
        </p:txBody>
      </p:sp>
      <p:sp>
        <p:nvSpPr>
          <p:cNvPr id="10" name="Text 7"/>
          <p:cNvSpPr txBox="1"/>
          <p:nvPr/>
        </p:nvSpPr>
        <p:spPr>
          <a:xfrm>
            <a:off x="502920" y="2542032"/>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Why here() works</a:t>
            </a:r>
            <a:endParaRPr lang="en-US" sz="1800" dirty="0"/>
          </a:p>
        </p:txBody>
      </p:sp>
      <p:sp>
        <p:nvSpPr>
          <p:cNvPr id="11" name="Text 8"/>
          <p:cNvSpPr txBox="1"/>
          <p:nvPr/>
        </p:nvSpPr>
        <p:spPr>
          <a:xfrm>
            <a:off x="502920" y="2889504"/>
            <a:ext cx="8138160" cy="1143000"/>
          </a:xfrm>
          <a:prstGeom prst="rect">
            <a:avLst/>
          </a:prstGeom>
          <a:noFill/>
          <a:ln/>
        </p:spPr>
        <p:txBody>
          <a:bodyPr wrap="square" lIns="0" tIns="0" rIns="0" bIns="0" rtlCol="0" anchor="ctr"/>
          <a:lstStyle/>
          <a:p>
            <a:pPr marL="0" indent="0">
              <a:spcAft>
                <a:spcPts val="900"/>
              </a:spcAft>
              <a:buNone/>
            </a:pPr>
            <a:r>
              <a:rPr lang="en-US" sz="1400" b="1" dirty="0">
                <a:solidFill>
                  <a:srgbClr val="2D2D2D"/>
                </a:solidFill>
                <a:latin typeface="Arial" pitchFamily="34" charset="0"/>
                <a:ea typeface="Arial" pitchFamily="34" charset="-122"/>
                <a:cs typeface="Arial" pitchFamily="34" charset="-120"/>
              </a:rPr>
              <a:t>It finds the project root itself: </a:t>
            </a:r>
            <a:r>
              <a:rPr lang="en-US" sz="1400" dirty="0">
                <a:solidFill>
                  <a:srgbClr val="2D2D2D"/>
                </a:solidFill>
                <a:latin typeface="Arial" pitchFamily="34" charset="0"/>
                <a:ea typeface="Arial" pitchFamily="34" charset="-122"/>
                <a:cs typeface="Arial" pitchFamily="34" charset="-120"/>
              </a:rPr>
              <a:t>by locating the .Rproj file, wherever the folder sits</a:t>
            </a:r>
            <a:endParaRPr lang="en-US" sz="1400" dirty="0"/>
          </a:p>
          <a:p>
            <a:pPr marL="0" indent="0">
              <a:spcAft>
                <a:spcPts val="900"/>
              </a:spcAft>
              <a:buNone/>
            </a:pPr>
            <a:r>
              <a:rPr lang="en-US" sz="1400" b="1" dirty="0">
                <a:solidFill>
                  <a:srgbClr val="2D2D2D"/>
                </a:solidFill>
                <a:latin typeface="Arial" pitchFamily="34" charset="0"/>
                <a:ea typeface="Arial" pitchFamily="34" charset="-122"/>
                <a:cs typeface="Arial" pitchFamily="34" charset="-120"/>
              </a:rPr>
              <a:t>It handles both slash conventions: </a:t>
            </a:r>
            <a:r>
              <a:rPr lang="en-US" sz="1400" dirty="0">
                <a:solidFill>
                  <a:srgbClr val="2D2D2D"/>
                </a:solidFill>
                <a:latin typeface="Arial" pitchFamily="34" charset="0"/>
                <a:ea typeface="Arial" pitchFamily="34" charset="-122"/>
                <a:cs typeface="Arial" pitchFamily="34" charset="-120"/>
              </a:rPr>
              <a:t>so Windows and Mac users share one script</a:t>
            </a:r>
            <a:endParaRPr lang="en-US" sz="1400" dirty="0"/>
          </a:p>
          <a:p>
            <a:pPr marL="0" indent="0">
              <a:spcAft>
                <a:spcPts val="900"/>
              </a:spcAft>
              <a:buNone/>
            </a:pPr>
            <a:r>
              <a:rPr lang="en-US" sz="1400" b="1" dirty="0">
                <a:solidFill>
                  <a:srgbClr val="2D2D2D"/>
                </a:solidFill>
                <a:latin typeface="Arial" pitchFamily="34" charset="0"/>
                <a:ea typeface="Arial" pitchFamily="34" charset="-122"/>
                <a:cs typeface="Arial" pitchFamily="34" charset="-120"/>
              </a:rPr>
              <a:t>It does not care where you launched R from: </a:t>
            </a:r>
            <a:r>
              <a:rPr lang="en-US" sz="1400" dirty="0">
                <a:solidFill>
                  <a:srgbClr val="2D2D2D"/>
                </a:solidFill>
                <a:latin typeface="Arial" pitchFamily="34" charset="0"/>
                <a:ea typeface="Arial" pitchFamily="34" charset="-122"/>
                <a:cs typeface="Arial" pitchFamily="34" charset="-120"/>
              </a:rPr>
              <a:t>the path is always built from the root</a:t>
            </a:r>
            <a:endParaRPr lang="en-US" sz="1400" dirty="0"/>
          </a:p>
        </p:txBody>
      </p:sp>
      <p:sp>
        <p:nvSpPr>
          <p:cNvPr id="12" name="Shape 9"/>
          <p:cNvSpPr/>
          <p:nvPr/>
        </p:nvSpPr>
        <p:spPr>
          <a:xfrm>
            <a:off x="502920" y="4096512"/>
            <a:ext cx="8138160" cy="502920"/>
          </a:xfrm>
          <a:prstGeom prst="roundRect">
            <a:avLst>
              <a:gd name="adj" fmla="val 10909"/>
            </a:avLst>
          </a:prstGeom>
          <a:solidFill>
            <a:srgbClr val="FFF2CC"/>
          </a:solidFill>
          <a:ln w="12700">
            <a:solidFill>
              <a:srgbClr val="E0A800"/>
            </a:solidFill>
            <a:prstDash val="solid"/>
          </a:ln>
        </p:spPr>
      </p:sp>
      <p:sp>
        <p:nvSpPr>
          <p:cNvPr id="13" name="Text 10"/>
          <p:cNvSpPr txBox="1"/>
          <p:nvPr/>
        </p:nvSpPr>
        <p:spPr>
          <a:xfrm>
            <a:off x="640080" y="4151376"/>
            <a:ext cx="7863840" cy="393192"/>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setwd() should never appear in a script you intend to share. Open the .Rproj file instead.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Number your scripts so the run order cannot be guessed wrong</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Name by order, then by job</a:t>
            </a:r>
            <a:endParaRPr lang="en-US" sz="1800" dirty="0"/>
          </a:p>
        </p:txBody>
      </p:sp>
      <p:sp>
        <p:nvSpPr>
          <p:cNvPr id="5" name="Shape 2"/>
          <p:cNvSpPr/>
          <p:nvPr/>
        </p:nvSpPr>
        <p:spPr>
          <a:xfrm>
            <a:off x="502920" y="1499616"/>
            <a:ext cx="3977640" cy="1371600"/>
          </a:xfrm>
          <a:prstGeom prst="roundRect">
            <a:avLst>
              <a:gd name="adj" fmla="val 3333"/>
            </a:avLst>
          </a:prstGeom>
          <a:solidFill>
            <a:srgbClr val="F1F4F8"/>
          </a:solidFill>
          <a:ln w="12700">
            <a:solidFill>
              <a:srgbClr val="D6DEE8"/>
            </a:solidFill>
            <a:prstDash val="solid"/>
          </a:ln>
        </p:spPr>
      </p:sp>
      <p:sp>
        <p:nvSpPr>
          <p:cNvPr id="6" name="Text 3"/>
          <p:cNvSpPr txBox="1"/>
          <p:nvPr/>
        </p:nvSpPr>
        <p:spPr>
          <a:xfrm>
            <a:off x="630936" y="1572768"/>
            <a:ext cx="3721608" cy="1225296"/>
          </a:xfrm>
          <a:prstGeom prst="rect">
            <a:avLst/>
          </a:prstGeom>
          <a:noFill/>
          <a:ln/>
        </p:spPr>
        <p:txBody>
          <a:bodyPr wrap="square" lIns="0" tIns="0" rIns="0" bIns="0" rtlCol="0" anchor="ctr"/>
          <a:lstStyle/>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scripts/</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00_setup.R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01_clean.R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02_model.R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03_figures.R</a:t>
            </a:r>
            <a:endParaRPr lang="en-US" sz="1200" dirty="0"/>
          </a:p>
        </p:txBody>
      </p:sp>
      <p:sp>
        <p:nvSpPr>
          <p:cNvPr id="7" name="Text 4"/>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Why it matters</a:t>
            </a:r>
            <a:endParaRPr lang="en-US" sz="1800" dirty="0"/>
          </a:p>
        </p:txBody>
      </p:sp>
      <p:sp>
        <p:nvSpPr>
          <p:cNvPr id="8" name="Text 5"/>
          <p:cNvSpPr txBox="1"/>
          <p:nvPr/>
        </p:nvSpPr>
        <p:spPr>
          <a:xfrm>
            <a:off x="4709160" y="1499616"/>
            <a:ext cx="3931920" cy="146304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2D2D2D"/>
                </a:solidFill>
                <a:latin typeface="Arial" pitchFamily="34" charset="0"/>
                <a:ea typeface="Arial" pitchFamily="34" charset="-122"/>
                <a:cs typeface="Arial" pitchFamily="34" charset="-120"/>
              </a:rPr>
              <a:t>The order is visible without opening anything</a:t>
            </a:r>
            <a:endParaRPr lang="en-US" sz="1400" dirty="0"/>
          </a:p>
          <a:p>
            <a:pPr marL="342900" indent="-342900">
              <a:spcAft>
                <a:spcPts val="1000"/>
              </a:spcAft>
              <a:buSzPct val="100000"/>
              <a:buChar char="•"/>
            </a:pPr>
            <a:r>
              <a:rPr lang="en-US" sz="1400" dirty="0">
                <a:solidFill>
                  <a:srgbClr val="2D2D2D"/>
                </a:solidFill>
                <a:latin typeface="Arial" pitchFamily="34" charset="0"/>
                <a:ea typeface="Arial" pitchFamily="34" charset="-122"/>
                <a:cs typeface="Arial" pitchFamily="34" charset="-120"/>
              </a:rPr>
              <a:t>A new teammate needs no explanation from you</a:t>
            </a:r>
            <a:endParaRPr lang="en-US" sz="1400" dirty="0"/>
          </a:p>
          <a:p>
            <a:pPr marL="342900" indent="-342900">
              <a:spcAft>
                <a:spcPts val="1000"/>
              </a:spcAft>
              <a:buSzPct val="100000"/>
              <a:buChar char="•"/>
            </a:pPr>
            <a:r>
              <a:rPr lang="en-US" sz="1400" dirty="0">
                <a:solidFill>
                  <a:srgbClr val="2D2D2D"/>
                </a:solidFill>
                <a:latin typeface="Arial" pitchFamily="34" charset="0"/>
                <a:ea typeface="Arial" pitchFamily="34" charset="-122"/>
                <a:cs typeface="Arial" pitchFamily="34" charset="-120"/>
              </a:rPr>
              <a:t>The numbers never fall out of date, unlike comments</a:t>
            </a:r>
            <a:endParaRPr lang="en-US" sz="1400" dirty="0"/>
          </a:p>
        </p:txBody>
      </p:sp>
      <p:sp>
        <p:nvSpPr>
          <p:cNvPr id="9" name="Text 6"/>
          <p:cNvSpPr txBox="1"/>
          <p:nvPr/>
        </p:nvSpPr>
        <p:spPr>
          <a:xfrm>
            <a:off x="502920" y="3035808"/>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The goal: one command rebuilds everything</a:t>
            </a:r>
            <a:endParaRPr lang="en-US" sz="1800" dirty="0"/>
          </a:p>
        </p:txBody>
      </p:sp>
      <p:sp>
        <p:nvSpPr>
          <p:cNvPr id="10" name="Shape 7"/>
          <p:cNvSpPr/>
          <p:nvPr/>
        </p:nvSpPr>
        <p:spPr>
          <a:xfrm>
            <a:off x="502920" y="3364992"/>
            <a:ext cx="8138160" cy="822960"/>
          </a:xfrm>
          <a:prstGeom prst="roundRect">
            <a:avLst>
              <a:gd name="adj" fmla="val 5556"/>
            </a:avLst>
          </a:prstGeom>
          <a:solidFill>
            <a:srgbClr val="F1F4F8"/>
          </a:solidFill>
          <a:ln w="12700">
            <a:solidFill>
              <a:srgbClr val="D6DEE8"/>
            </a:solidFill>
            <a:prstDash val="solid"/>
          </a:ln>
        </p:spPr>
      </p:sp>
      <p:sp>
        <p:nvSpPr>
          <p:cNvPr id="11" name="Text 8"/>
          <p:cNvSpPr txBox="1"/>
          <p:nvPr/>
        </p:nvSpPr>
        <p:spPr>
          <a:xfrm>
            <a:off x="630936" y="3438144"/>
            <a:ext cx="7882128" cy="676656"/>
          </a:xfrm>
          <a:prstGeom prst="rect">
            <a:avLst/>
          </a:prstGeom>
          <a:noFill/>
          <a:ln/>
        </p:spPr>
        <p:txBody>
          <a:bodyPr wrap="square" lIns="0" tIns="0" rIns="0" bIns="0" rtlCol="0" anchor="ctr"/>
          <a:lstStyle/>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a:t>
            </a:r>
            <a:r>
              <a:rPr lang="en-US" sz="1200" dirty="0" err="1">
                <a:solidFill>
                  <a:srgbClr val="2D2D2D"/>
                </a:solidFill>
                <a:latin typeface="Courier New" pitchFamily="34" charset="0"/>
                <a:ea typeface="Courier New" pitchFamily="34" charset="-122"/>
                <a:cs typeface="Courier New" pitchFamily="34" charset="-120"/>
              </a:rPr>
              <a:t>main.R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source(here::here("scripts", "01_clean.R"))</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source(here::here("scripts", "02_model.R"))</a:t>
            </a:r>
            <a:endParaRPr lang="en-US" sz="1200" dirty="0"/>
          </a:p>
        </p:txBody>
      </p:sp>
      <p:sp>
        <p:nvSpPr>
          <p:cNvPr id="12" name="Shape 9"/>
          <p:cNvSpPr/>
          <p:nvPr/>
        </p:nvSpPr>
        <p:spPr>
          <a:xfrm>
            <a:off x="502920" y="4315968"/>
            <a:ext cx="8138160" cy="457200"/>
          </a:xfrm>
          <a:prstGeom prst="roundRect">
            <a:avLst>
              <a:gd name="adj" fmla="val 12000"/>
            </a:avLst>
          </a:prstGeom>
          <a:solidFill>
            <a:srgbClr val="FFF2CC"/>
          </a:solidFill>
          <a:ln w="12700">
            <a:solidFill>
              <a:srgbClr val="E0A800"/>
            </a:solidFill>
            <a:prstDash val="solid"/>
          </a:ln>
        </p:spPr>
      </p:sp>
      <p:sp>
        <p:nvSpPr>
          <p:cNvPr id="13" name="Text 10"/>
          <p:cNvSpPr txBox="1"/>
          <p:nvPr/>
        </p:nvSpPr>
        <p:spPr>
          <a:xfrm>
            <a:off x="640080" y="4370832"/>
            <a:ext cx="7863840" cy="347472"/>
          </a:xfrm>
          <a:prstGeom prst="rect">
            <a:avLst/>
          </a:prstGeom>
          <a:noFill/>
          <a:ln/>
        </p:spPr>
        <p:txBody>
          <a:bodyPr wrap="square" lIns="0" tIns="0" rIns="0" bIns="0" rtlCol="0" anchor="ctr"/>
          <a:lstStyle/>
          <a:p>
            <a:pPr marL="0" indent="0" algn="l">
              <a:buNone/>
            </a:pPr>
            <a:r>
              <a:rPr lang="en-US" sz="1400" b="1" dirty="0">
                <a:solidFill>
                  <a:srgbClr val="7A5200"/>
                </a:solidFill>
                <a:latin typeface="Arial" pitchFamily="34" charset="0"/>
                <a:ea typeface="Arial" pitchFamily="34" charset="-122"/>
                <a:cs typeface="Arial" pitchFamily="34" charset="-120"/>
              </a:rPr>
              <a:t>If rebuilding the project takes one command, it is reproducible. If it takes instructions, it is not.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The README and the lockfile are what make the folder genuinely self-contained</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README.md — for the human</a:t>
            </a:r>
            <a:endParaRPr lang="en-US" sz="1800" dirty="0"/>
          </a:p>
        </p:txBody>
      </p:sp>
      <p:sp>
        <p:nvSpPr>
          <p:cNvPr id="5" name="Text 2"/>
          <p:cNvSpPr txBox="1"/>
          <p:nvPr/>
        </p:nvSpPr>
        <p:spPr>
          <a:xfrm>
            <a:off x="502920" y="1499616"/>
            <a:ext cx="3977640"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What the project does, in one sentence</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What has to be installed before it runs</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Which script to run, in what order</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Where the data came from, and any access limits</a:t>
            </a:r>
            <a:endParaRPr lang="en-US" sz="1400" dirty="0"/>
          </a:p>
        </p:txBody>
      </p:sp>
      <p:sp>
        <p:nvSpPr>
          <p:cNvPr id="6" name="Text 3"/>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renv.lock — for the machine</a:t>
            </a:r>
            <a:endParaRPr lang="en-US" sz="1800" dirty="0"/>
          </a:p>
        </p:txBody>
      </p:sp>
      <p:sp>
        <p:nvSpPr>
          <p:cNvPr id="7" name="Text 4"/>
          <p:cNvSpPr txBox="1"/>
          <p:nvPr/>
        </p:nvSpPr>
        <p:spPr>
          <a:xfrm>
            <a:off x="4709160" y="1499616"/>
            <a:ext cx="3931920"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Records the exact package versions you used</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renv::init() starts it; renv::snapshot() updates it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A collaborator runs renv::restore() to match you</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Commit renv.lock, gitignore renv/library/</a:t>
            </a:r>
            <a:endParaRPr lang="en-US" sz="1400" dirty="0"/>
          </a:p>
        </p:txBody>
      </p:sp>
      <p:sp>
        <p:nvSpPr>
          <p:cNvPr id="8" name="Shape 5"/>
          <p:cNvSpPr/>
          <p:nvPr/>
        </p:nvSpPr>
        <p:spPr>
          <a:xfrm>
            <a:off x="502920" y="3429000"/>
            <a:ext cx="8138160" cy="713232"/>
          </a:xfrm>
          <a:prstGeom prst="roundRect">
            <a:avLst>
              <a:gd name="adj" fmla="val 7692"/>
            </a:avLst>
          </a:prstGeom>
          <a:solidFill>
            <a:srgbClr val="FFF2CC"/>
          </a:solidFill>
          <a:ln w="12700">
            <a:solidFill>
              <a:srgbClr val="E0A800"/>
            </a:solidFill>
            <a:prstDash val="solid"/>
          </a:ln>
        </p:spPr>
      </p:sp>
      <p:sp>
        <p:nvSpPr>
          <p:cNvPr id="9" name="Text 6"/>
          <p:cNvSpPr txBox="1"/>
          <p:nvPr/>
        </p:nvSpPr>
        <p:spPr>
          <a:xfrm>
            <a:off x="640080" y="3483864"/>
            <a:ext cx="7863840" cy="603504"/>
          </a:xfrm>
          <a:prstGeom prst="rect">
            <a:avLst/>
          </a:prstGeom>
          <a:noFill/>
          <a:ln/>
        </p:spPr>
        <p:txBody>
          <a:bodyPr wrap="square" lIns="0" tIns="0" rIns="0" bIns="0" rtlCol="0" anchor="ctr"/>
          <a:lstStyle/>
          <a:p>
            <a:pPr marL="0" indent="0" algn="l">
              <a:buNone/>
            </a:pPr>
            <a:r>
              <a:rPr lang="en-US" sz="1400" b="1" dirty="0">
                <a:solidFill>
                  <a:srgbClr val="7A5200"/>
                </a:solidFill>
                <a:latin typeface="Arial" pitchFamily="34" charset="0"/>
                <a:ea typeface="Arial" pitchFamily="34" charset="-122"/>
                <a:cs typeface="Arial" pitchFamily="34" charset="-120"/>
              </a:rPr>
              <a:t>Without a lockfile the code still runs a year later — it just quietly returns different numbers, because a package changed underneath it. That is the failure that is hardest to spot.</a:t>
            </a:r>
            <a:endParaRPr lang="en-US" sz="1400" dirty="0"/>
          </a:p>
        </p:txBody>
      </p:sp>
      <p:sp>
        <p:nvSpPr>
          <p:cNvPr id="10" name="Text 7"/>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Sources: renv package documentation; Posit (2026), Structuring Reproducible Research Projects in 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a:effectLst/>
      </p:bgPr>
    </p:bg>
    <p:spTree>
      <p:nvGrpSpPr>
        <p:cNvPr id="1" name=""/>
        <p:cNvGrpSpPr/>
        <p:nvPr/>
      </p:nvGrpSpPr>
      <p:grpSpPr>
        <a:xfrm>
          <a:off x="0" y="0"/>
          <a:ext cx="0" cy="0"/>
          <a:chOff x="0" y="0"/>
          <a:chExt cx="0" cy="0"/>
        </a:xfrm>
      </p:grpSpPr>
      <p:sp>
        <p:nvSpPr>
          <p:cNvPr id="2" name="Text 0"/>
          <p:cNvSpPr txBox="1"/>
          <p:nvPr/>
        </p:nvSpPr>
        <p:spPr>
          <a:xfrm>
            <a:off x="502920" y="1600200"/>
            <a:ext cx="8138160" cy="365760"/>
          </a:xfrm>
          <a:prstGeom prst="rect">
            <a:avLst/>
          </a:prstGeom>
          <a:noFill/>
          <a:ln/>
        </p:spPr>
        <p:txBody>
          <a:bodyPr wrap="square" lIns="0" tIns="0" rIns="0" bIns="0" rtlCol="0" anchor="ctr"/>
          <a:lstStyle/>
          <a:p>
            <a:pPr marL="0" indent="0">
              <a:buNone/>
            </a:pPr>
            <a:r>
              <a:rPr lang="en-US" sz="1600" dirty="0">
                <a:solidFill>
                  <a:srgbClr val="7BAFD4"/>
                </a:solidFill>
                <a:latin typeface="Arial" pitchFamily="34" charset="0"/>
                <a:ea typeface="Arial" pitchFamily="34" charset="-122"/>
                <a:cs typeface="Arial" pitchFamily="34" charset="-120"/>
              </a:rPr>
              <a:t>Part 2</a:t>
            </a:r>
            <a:endParaRPr lang="en-US" sz="1600" dirty="0"/>
          </a:p>
        </p:txBody>
      </p:sp>
      <p:sp>
        <p:nvSpPr>
          <p:cNvPr id="3" name="Text 1"/>
          <p:cNvSpPr txBox="1"/>
          <p:nvPr/>
        </p:nvSpPr>
        <p:spPr>
          <a:xfrm>
            <a:off x="502920" y="1965960"/>
            <a:ext cx="8138160" cy="8229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The file</a:t>
            </a:r>
            <a:endParaRPr lang="en-US" sz="3400" dirty="0"/>
          </a:p>
        </p:txBody>
      </p:sp>
      <p:sp>
        <p:nvSpPr>
          <p:cNvPr id="4" name="Shape 2"/>
          <p:cNvSpPr/>
          <p:nvPr/>
        </p:nvSpPr>
        <p:spPr>
          <a:xfrm>
            <a:off x="502920" y="2852928"/>
            <a:ext cx="2194560" cy="54864"/>
          </a:xfrm>
          <a:prstGeom prst="rect">
            <a:avLst/>
          </a:prstGeom>
          <a:solidFill>
            <a:srgbClr val="2E75B6"/>
          </a:solidFill>
          <a:ln w="12700">
            <a:solidFill>
              <a:srgbClr val="2E75B6"/>
            </a:solidFill>
            <a:prstDash val="solid"/>
          </a:ln>
        </p:spPr>
      </p:sp>
      <p:sp>
        <p:nvSpPr>
          <p:cNvPr id="5" name="Text 3"/>
          <p:cNvSpPr txBox="1"/>
          <p:nvPr/>
        </p:nvSpPr>
        <p:spPr>
          <a:xfrm>
            <a:off x="502920" y="3108960"/>
            <a:ext cx="6583680" cy="640080"/>
          </a:xfrm>
          <a:prstGeom prst="rect">
            <a:avLst/>
          </a:prstGeom>
          <a:noFill/>
          <a:ln/>
        </p:spPr>
        <p:txBody>
          <a:bodyPr wrap="square" lIns="0" tIns="0" rIns="0" bIns="0" rtlCol="0" anchor="ctr"/>
          <a:lstStyle/>
          <a:p>
            <a:pPr marL="0" indent="0">
              <a:buNone/>
            </a:pPr>
            <a:r>
              <a:rPr lang="en-US" sz="1700" dirty="0">
                <a:solidFill>
                  <a:srgbClr val="CADCFC"/>
                </a:solidFill>
                <a:latin typeface="Arial" pitchFamily="34" charset="0"/>
                <a:ea typeface="Arial" pitchFamily="34" charset="-122"/>
                <a:cs typeface="Arial" pitchFamily="34" charset="-120"/>
              </a:rPr>
              <a:t>Script or document/notebook? What each is good at, and why most projects use both</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 script computes; a document/notebook computes and explains in the same file</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A script: </a:t>
            </a:r>
            <a:r>
              <a:rPr lang="en-US" sz="1800" b="1" dirty="0" err="1">
                <a:solidFill>
                  <a:srgbClr val="2E75B6"/>
                </a:solidFill>
                <a:latin typeface="Arial" pitchFamily="34" charset="0"/>
                <a:ea typeface="Arial" pitchFamily="34" charset="-122"/>
                <a:cs typeface="Arial" pitchFamily="34" charset="-120"/>
              </a:rPr>
              <a:t>script.R</a:t>
            </a:r>
            <a:endParaRPr lang="en-US" sz="1800" dirty="0"/>
          </a:p>
        </p:txBody>
      </p:sp>
      <p:sp>
        <p:nvSpPr>
          <p:cNvPr id="5" name="Shape 2"/>
          <p:cNvSpPr/>
          <p:nvPr/>
        </p:nvSpPr>
        <p:spPr>
          <a:xfrm>
            <a:off x="502920" y="1499616"/>
            <a:ext cx="3977640" cy="1417320"/>
          </a:xfrm>
          <a:prstGeom prst="roundRect">
            <a:avLst>
              <a:gd name="adj" fmla="val 3226"/>
            </a:avLst>
          </a:prstGeom>
          <a:solidFill>
            <a:srgbClr val="F1F4F8"/>
          </a:solidFill>
          <a:ln w="12700">
            <a:solidFill>
              <a:srgbClr val="D6DEE8"/>
            </a:solidFill>
            <a:prstDash val="solid"/>
          </a:ln>
        </p:spPr>
      </p:sp>
      <p:sp>
        <p:nvSpPr>
          <p:cNvPr id="6" name="Text 3"/>
          <p:cNvSpPr txBox="1"/>
          <p:nvPr/>
        </p:nvSpPr>
        <p:spPr>
          <a:xfrm>
            <a:off x="630936" y="1572768"/>
            <a:ext cx="3721608" cy="1271016"/>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clean the sales data</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library(here)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sales &lt;- read.csv(</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here("data", "raw", "sales.csv"))</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mean(sales$revenue)</a:t>
            </a:r>
            <a:endParaRPr lang="en-US" sz="1100" dirty="0"/>
          </a:p>
        </p:txBody>
      </p:sp>
      <p:sp>
        <p:nvSpPr>
          <p:cNvPr id="7" name="Text 4"/>
          <p:cNvSpPr txBox="1"/>
          <p:nvPr/>
        </p:nvSpPr>
        <p:spPr>
          <a:xfrm>
            <a:off x="502920" y="2999232"/>
            <a:ext cx="3977640" cy="640080"/>
          </a:xfrm>
          <a:prstGeom prst="rect">
            <a:avLst/>
          </a:prstGeom>
          <a:noFill/>
          <a:ln/>
        </p:spPr>
        <p:txBody>
          <a:bodyPr wrap="square" lIns="0" tIns="0" rIns="0" bIns="0" rtlCol="0" anchor="ctr"/>
          <a:lstStyle/>
          <a:p>
            <a:pPr marL="0" indent="0">
              <a:buNone/>
            </a:pPr>
            <a:r>
              <a:rPr lang="en-US" sz="1400" dirty="0">
                <a:solidFill>
                  <a:srgbClr val="2D2D2D"/>
                </a:solidFill>
                <a:latin typeface="Arial" pitchFamily="34" charset="0"/>
                <a:ea typeface="Arial" pitchFamily="34" charset="-122"/>
                <a:cs typeface="Arial" pitchFamily="34" charset="-120"/>
              </a:rPr>
              <a:t>Code is the default. Prose survives only as comments, and the results appear in the console.</a:t>
            </a:r>
            <a:endParaRPr lang="en-US" sz="1400" dirty="0"/>
          </a:p>
        </p:txBody>
      </p:sp>
      <p:sp>
        <p:nvSpPr>
          <p:cNvPr id="8" name="Text 5"/>
          <p:cNvSpPr txBox="1"/>
          <p:nvPr/>
        </p:nvSpPr>
        <p:spPr>
          <a:xfrm>
            <a:off x="4709160" y="1170432"/>
            <a:ext cx="4364006" cy="310896"/>
          </a:xfrm>
          <a:prstGeom prst="rect">
            <a:avLst/>
          </a:prstGeom>
          <a:noFill/>
          <a:ln/>
        </p:spPr>
        <p:txBody>
          <a:bodyPr wrap="square" lIns="0" tIns="0" rIns="0" bIns="0" rtlCol="0" anchor="ctr"/>
          <a:lstStyle/>
          <a:p>
            <a:r>
              <a:rPr lang="en-US" sz="1800" b="1" dirty="0">
                <a:solidFill>
                  <a:srgbClr val="2E75B6"/>
                </a:solidFill>
                <a:latin typeface="Arial" pitchFamily="34" charset="0"/>
                <a:ea typeface="Arial" pitchFamily="34" charset="-122"/>
                <a:cs typeface="Arial" pitchFamily="34" charset="-120"/>
              </a:rPr>
              <a:t>A document: </a:t>
            </a:r>
            <a:r>
              <a:rPr lang="en-US" sz="1800" b="1" dirty="0" err="1">
                <a:solidFill>
                  <a:srgbClr val="2E75B6"/>
                </a:solidFill>
                <a:latin typeface="Arial" pitchFamily="34" charset="0"/>
                <a:ea typeface="Arial" pitchFamily="34" charset="-122"/>
                <a:cs typeface="Arial" pitchFamily="34" charset="-120"/>
              </a:rPr>
              <a:t>report.qmd</a:t>
            </a:r>
            <a:r>
              <a:rPr lang="en-US" b="1" dirty="0">
                <a:solidFill>
                  <a:srgbClr val="2E75B6"/>
                </a:solidFill>
                <a:latin typeface="Arial" pitchFamily="34" charset="0"/>
                <a:ea typeface="Arial" pitchFamily="34" charset="-122"/>
                <a:cs typeface="Arial" pitchFamily="34" charset="-120"/>
              </a:rPr>
              <a:t>/</a:t>
            </a:r>
            <a:r>
              <a:rPr lang="en-US" b="1" dirty="0" err="1">
                <a:solidFill>
                  <a:srgbClr val="2E75B6"/>
                </a:solidFill>
                <a:latin typeface="Arial" pitchFamily="34" charset="0"/>
                <a:ea typeface="Arial" pitchFamily="34" charset="-122"/>
                <a:cs typeface="Arial" pitchFamily="34" charset="-120"/>
              </a:rPr>
              <a:t>report.ipynb</a:t>
            </a:r>
            <a:endParaRPr lang="en-US" sz="1800" dirty="0"/>
          </a:p>
        </p:txBody>
      </p:sp>
      <p:sp>
        <p:nvSpPr>
          <p:cNvPr id="9" name="Shape 6"/>
          <p:cNvSpPr/>
          <p:nvPr/>
        </p:nvSpPr>
        <p:spPr>
          <a:xfrm>
            <a:off x="4709160" y="1499616"/>
            <a:ext cx="3931920" cy="1417320"/>
          </a:xfrm>
          <a:prstGeom prst="roundRect">
            <a:avLst>
              <a:gd name="adj" fmla="val 3226"/>
            </a:avLst>
          </a:prstGeom>
          <a:solidFill>
            <a:srgbClr val="F1F4F8"/>
          </a:solidFill>
          <a:ln w="12700">
            <a:solidFill>
              <a:srgbClr val="D6DEE8"/>
            </a:solidFill>
            <a:prstDash val="solid"/>
          </a:ln>
        </p:spPr>
      </p:sp>
      <p:sp>
        <p:nvSpPr>
          <p:cNvPr id="10" name="Text 7"/>
          <p:cNvSpPr txBox="1"/>
          <p:nvPr/>
        </p:nvSpPr>
        <p:spPr>
          <a:xfrm>
            <a:off x="4837176" y="1572768"/>
            <a:ext cx="3675888" cy="1271016"/>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Revenue in 2025</a:t>
            </a:r>
            <a:endParaRPr lang="en-US" sz="1100" dirty="0"/>
          </a:p>
          <a:p>
            <a:pPr marL="0" indent="0">
              <a:lnSpc>
                <a:spcPct val="115000"/>
              </a:lnSpc>
              <a:buNone/>
            </a:pP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Average monthly revenue was:</a:t>
            </a:r>
            <a:endParaRPr lang="en-US" sz="1100" dirty="0"/>
          </a:p>
          <a:p>
            <a:pPr marL="0" indent="0">
              <a:lnSpc>
                <a:spcPct val="115000"/>
              </a:lnSpc>
              <a:buNone/>
            </a:pP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mean(sales$revenue)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t>
            </a:r>
            <a:endParaRPr lang="en-US" sz="1100" dirty="0"/>
          </a:p>
        </p:txBody>
      </p:sp>
      <p:sp>
        <p:nvSpPr>
          <p:cNvPr id="11" name="Text 8"/>
          <p:cNvSpPr txBox="1"/>
          <p:nvPr/>
        </p:nvSpPr>
        <p:spPr>
          <a:xfrm>
            <a:off x="4709160" y="2999232"/>
            <a:ext cx="3931920" cy="640080"/>
          </a:xfrm>
          <a:prstGeom prst="rect">
            <a:avLst/>
          </a:prstGeom>
          <a:noFill/>
          <a:ln/>
        </p:spPr>
        <p:txBody>
          <a:bodyPr wrap="square" lIns="0" tIns="0" rIns="0" bIns="0" rtlCol="0" anchor="ctr"/>
          <a:lstStyle/>
          <a:p>
            <a:pPr marL="0" indent="0">
              <a:buNone/>
            </a:pPr>
            <a:r>
              <a:rPr lang="en-US" sz="1400" dirty="0">
                <a:solidFill>
                  <a:srgbClr val="2D2D2D"/>
                </a:solidFill>
                <a:latin typeface="Arial" pitchFamily="34" charset="0"/>
                <a:ea typeface="Arial" pitchFamily="34" charset="-122"/>
                <a:cs typeface="Arial" pitchFamily="34" charset="-120"/>
              </a:rPr>
              <a:t>Prose is the default. Code sits in chunks, and the results appear in the finished document.</a:t>
            </a:r>
            <a:endParaRPr lang="en-US" sz="1400" dirty="0"/>
          </a:p>
        </p:txBody>
      </p:sp>
      <p:sp>
        <p:nvSpPr>
          <p:cNvPr id="12" name="Shape 9"/>
          <p:cNvSpPr/>
          <p:nvPr/>
        </p:nvSpPr>
        <p:spPr>
          <a:xfrm>
            <a:off x="502920" y="3730752"/>
            <a:ext cx="8138160" cy="566928"/>
          </a:xfrm>
          <a:prstGeom prst="roundRect">
            <a:avLst>
              <a:gd name="adj" fmla="val 9677"/>
            </a:avLst>
          </a:prstGeom>
          <a:solidFill>
            <a:srgbClr val="FFF2CC"/>
          </a:solidFill>
          <a:ln w="12700">
            <a:solidFill>
              <a:srgbClr val="E0A800"/>
            </a:solidFill>
            <a:prstDash val="solid"/>
          </a:ln>
        </p:spPr>
      </p:sp>
      <p:sp>
        <p:nvSpPr>
          <p:cNvPr id="13" name="Text 10"/>
          <p:cNvSpPr txBox="1"/>
          <p:nvPr/>
        </p:nvSpPr>
        <p:spPr>
          <a:xfrm>
            <a:off x="640080" y="3785616"/>
            <a:ext cx="7863840" cy="457200"/>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Same computation, different job. The script produces a number; the document produces something a reader can follow.</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Each format is better at a different part of the work</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2987395302"/>
              </p:ext>
            </p:extLst>
          </p:nvPr>
        </p:nvGraphicFramePr>
        <p:xfrm>
          <a:off x="502920" y="1188720"/>
          <a:ext cx="8138160" cy="2843784"/>
        </p:xfrm>
        <a:graphic>
          <a:graphicData uri="http://schemas.openxmlformats.org/drawingml/2006/table">
            <a:tbl>
              <a:tblPr/>
              <a:tblGrid>
                <a:gridCol w="28346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FFFFFF"/>
                          </a:solidFill>
                          <a:latin typeface="Arial" pitchFamily="34" charset="0"/>
                          <a:ea typeface="Arial" pitchFamily="34" charset="-122"/>
                          <a:cs typeface="Arial" pitchFamily="34" charset="-120"/>
                        </a:rPr>
                        <a:t>Consideration</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1F4E79"/>
                    </a:solidFill>
                  </a:tcPr>
                </a:tc>
                <a:tc>
                  <a:txBody>
                    <a:bodyPr/>
                    <a:lstStyle/>
                    <a:p>
                      <a:pPr marL="0" indent="0">
                        <a:buNone/>
                      </a:pPr>
                      <a:r>
                        <a:rPr lang="en-US" sz="1350" b="1" dirty="0">
                          <a:solidFill>
                            <a:srgbClr val="FFFFFF"/>
                          </a:solidFill>
                          <a:latin typeface="Arial" pitchFamily="34" charset="0"/>
                          <a:ea typeface="Arial" pitchFamily="34" charset="-122"/>
                          <a:cs typeface="Arial" pitchFamily="34" charset="-120"/>
                        </a:rPr>
                        <a:t>R script (.R)</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1F4E79"/>
                    </a:solidFill>
                  </a:tcPr>
                </a:tc>
                <a:tc>
                  <a:txBody>
                    <a:bodyPr/>
                    <a:lstStyle/>
                    <a:p>
                      <a:pPr marL="0" indent="0">
                        <a:buNone/>
                      </a:pPr>
                      <a:r>
                        <a:rPr lang="en-US" sz="1350" b="1" dirty="0">
                          <a:solidFill>
                            <a:srgbClr val="FFFFFF"/>
                          </a:solidFill>
                          <a:latin typeface="Arial" pitchFamily="34" charset="0"/>
                          <a:ea typeface="Arial" pitchFamily="34" charset="-122"/>
                          <a:cs typeface="Arial" pitchFamily="34" charset="-120"/>
                        </a:rPr>
                        <a:t>Quarto document (.qmd)</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D2D2D"/>
                          </a:solidFill>
                          <a:latin typeface="Arial" pitchFamily="34" charset="0"/>
                          <a:ea typeface="Arial" pitchFamily="34" charset="-122"/>
                          <a:cs typeface="Arial" pitchFamily="34" charset="-120"/>
                        </a:rPr>
                        <a:t>Main content</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Code</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Prose, with code in chunks</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D2D2D"/>
                          </a:solidFill>
                          <a:latin typeface="Arial" pitchFamily="34" charset="0"/>
                          <a:ea typeface="Arial" pitchFamily="34" charset="-122"/>
                          <a:cs typeface="Arial" pitchFamily="34" charset="-120"/>
                        </a:rPr>
                        <a:t>Where results appear</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Console and files</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Inside the finished document</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D2D2D"/>
                          </a:solidFill>
                          <a:latin typeface="Arial" pitchFamily="34" charset="0"/>
                          <a:ea typeface="Arial" pitchFamily="34" charset="-122"/>
                          <a:cs typeface="Arial" pitchFamily="34" charset="-120"/>
                        </a:rPr>
                        <a:t>Explaining your reasoning</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Comments only</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Full formatted text</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D2D2D"/>
                          </a:solidFill>
                          <a:latin typeface="Arial" pitchFamily="34" charset="0"/>
                          <a:ea typeface="Arial" pitchFamily="34" charset="-122"/>
                          <a:cs typeface="Arial" pitchFamily="34" charset="-120"/>
                        </a:rPr>
                        <a:t>Running part of the work</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Line by line, easy</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Chunk by chunk, dependable &amp; riskier</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50" dirty="0">
                          <a:solidFill>
                            <a:srgbClr val="2D2D2D"/>
                          </a:solidFill>
                          <a:latin typeface="Arial" pitchFamily="34" charset="0"/>
                          <a:ea typeface="Arial" pitchFamily="34" charset="-122"/>
                          <a:cs typeface="Arial" pitchFamily="34" charset="-120"/>
                        </a:rPr>
                        <a:t>Being called by other code</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Easy: source() it</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Not designed for it</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350" dirty="0">
                          <a:solidFill>
                            <a:srgbClr val="2D2D2D"/>
                          </a:solidFill>
                          <a:latin typeface="Arial" pitchFamily="34" charset="0"/>
                          <a:ea typeface="Arial" pitchFamily="34" charset="-122"/>
                          <a:cs typeface="Arial" pitchFamily="34" charset="-120"/>
                        </a:rPr>
                        <a:t>Producing a deliverable</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No, you assemble it yourself</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marL="0" indent="0">
                        <a:buNone/>
                      </a:pPr>
                      <a:r>
                        <a:rPr lang="en-US" sz="1350" dirty="0">
                          <a:solidFill>
                            <a:srgbClr val="2D2D2D"/>
                          </a:solidFill>
                          <a:latin typeface="Arial" pitchFamily="34" charset="0"/>
                          <a:ea typeface="Arial" pitchFamily="34" charset="-122"/>
                          <a:cs typeface="Arial" pitchFamily="34" charset="-120"/>
                        </a:rPr>
                        <a:t>Yes, it renders one</a:t>
                      </a:r>
                      <a:endParaRPr lang="en-US" sz="1350" dirty="0">
                        <a:latin typeface="Arial" charset="0"/>
                        <a:ea typeface="Arial" charset="0"/>
                        <a:cs typeface="Arial" charset="0"/>
                      </a:endParaRPr>
                    </a:p>
                  </a:txBody>
                  <a:tcPr marL="64008" marR="64008" marT="64008" marB="64008"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1"/>
          <p:cNvSpPr/>
          <p:nvPr/>
        </p:nvSpPr>
        <p:spPr>
          <a:xfrm>
            <a:off x="502920" y="4114800"/>
            <a:ext cx="8138160" cy="502920"/>
          </a:xfrm>
          <a:prstGeom prst="roundRect">
            <a:avLst>
              <a:gd name="adj" fmla="val 10909"/>
            </a:avLst>
          </a:prstGeom>
          <a:solidFill>
            <a:srgbClr val="FFF2CC"/>
          </a:solidFill>
          <a:ln w="12700">
            <a:solidFill>
              <a:srgbClr val="E0A800"/>
            </a:solidFill>
            <a:prstDash val="solid"/>
          </a:ln>
        </p:spPr>
      </p:sp>
      <p:sp>
        <p:nvSpPr>
          <p:cNvPr id="6" name="Text 2"/>
          <p:cNvSpPr txBox="1"/>
          <p:nvPr/>
        </p:nvSpPr>
        <p:spPr>
          <a:xfrm>
            <a:off x="640080" y="4169664"/>
            <a:ext cx="7863840" cy="393192"/>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Neither one wins. The question is what the output of this particular task is meant to be.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Choose by deliverable: a script when the output is data, a document when it is the report</a:t>
            </a:r>
            <a:endParaRPr lang="en-US" sz="2400" dirty="0"/>
          </a:p>
        </p:txBody>
      </p:sp>
      <p:sp>
        <p:nvSpPr>
          <p:cNvPr id="4" name="Shape 1"/>
          <p:cNvSpPr/>
          <p:nvPr/>
        </p:nvSpPr>
        <p:spPr>
          <a:xfrm>
            <a:off x="502920" y="1188720"/>
            <a:ext cx="3931920" cy="2514600"/>
          </a:xfrm>
          <a:prstGeom prst="roundRect">
            <a:avLst>
              <a:gd name="adj" fmla="val 2909"/>
            </a:avLst>
          </a:prstGeom>
          <a:solidFill>
            <a:srgbClr val="EBF3FA"/>
          </a:solidFill>
          <a:ln w="12700">
            <a:solidFill>
              <a:srgbClr val="2E75B6"/>
            </a:solidFill>
            <a:prstDash val="solid"/>
          </a:ln>
        </p:spPr>
      </p:sp>
      <p:sp>
        <p:nvSpPr>
          <p:cNvPr id="5" name="Text 2"/>
          <p:cNvSpPr txBox="1"/>
          <p:nvPr/>
        </p:nvSpPr>
        <p:spPr>
          <a:xfrm>
            <a:off x="704088" y="1316736"/>
            <a:ext cx="3566160" cy="365760"/>
          </a:xfrm>
          <a:prstGeom prst="rect">
            <a:avLst/>
          </a:prstGeom>
          <a:noFill/>
          <a:ln/>
        </p:spPr>
        <p:txBody>
          <a:bodyPr wrap="square" lIns="0" tIns="0" rIns="0" bIns="0" rtlCol="0" anchor="ctr"/>
          <a:lstStyle/>
          <a:p>
            <a:pPr marL="0" indent="0">
              <a:buNone/>
            </a:pPr>
            <a:r>
              <a:rPr lang="en-US" sz="1900" b="1" dirty="0">
                <a:solidFill>
                  <a:srgbClr val="1F4E79"/>
                </a:solidFill>
                <a:latin typeface="Arial" pitchFamily="34" charset="0"/>
                <a:ea typeface="Arial" pitchFamily="34" charset="-122"/>
                <a:cs typeface="Arial" pitchFamily="34" charset="-120"/>
              </a:rPr>
              <a:t>Use a script when</a:t>
            </a:r>
            <a:endParaRPr lang="en-US" sz="1900" dirty="0"/>
          </a:p>
        </p:txBody>
      </p:sp>
      <p:sp>
        <p:nvSpPr>
          <p:cNvPr id="6" name="Text 3"/>
          <p:cNvSpPr txBox="1"/>
          <p:nvPr/>
        </p:nvSpPr>
        <p:spPr>
          <a:xfrm>
            <a:off x="704088" y="1737360"/>
            <a:ext cx="3529584"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output is a cleaned dataset or a model</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step will be rerun automatically</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Other code needs to call it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work is long and needs debugging</a:t>
            </a:r>
            <a:endParaRPr lang="en-US" sz="1400" dirty="0"/>
          </a:p>
        </p:txBody>
      </p:sp>
      <p:sp>
        <p:nvSpPr>
          <p:cNvPr id="7" name="Shape 4"/>
          <p:cNvSpPr/>
          <p:nvPr/>
        </p:nvSpPr>
        <p:spPr>
          <a:xfrm>
            <a:off x="4709160" y="1188720"/>
            <a:ext cx="3931920" cy="2514600"/>
          </a:xfrm>
          <a:prstGeom prst="roundRect">
            <a:avLst>
              <a:gd name="adj" fmla="val 2909"/>
            </a:avLst>
          </a:prstGeom>
          <a:solidFill>
            <a:srgbClr val="F5F7FA"/>
          </a:solidFill>
          <a:ln w="12700">
            <a:solidFill>
              <a:srgbClr val="CCCCCC"/>
            </a:solidFill>
            <a:prstDash val="solid"/>
          </a:ln>
        </p:spPr>
      </p:sp>
      <p:sp>
        <p:nvSpPr>
          <p:cNvPr id="8" name="Text 5"/>
          <p:cNvSpPr txBox="1"/>
          <p:nvPr/>
        </p:nvSpPr>
        <p:spPr>
          <a:xfrm>
            <a:off x="4910328" y="1316736"/>
            <a:ext cx="3566160" cy="365760"/>
          </a:xfrm>
          <a:prstGeom prst="rect">
            <a:avLst/>
          </a:prstGeom>
          <a:noFill/>
          <a:ln/>
        </p:spPr>
        <p:txBody>
          <a:bodyPr wrap="square" lIns="0" tIns="0" rIns="0" bIns="0" rtlCol="0" anchor="ctr"/>
          <a:lstStyle/>
          <a:p>
            <a:pPr marL="0" indent="0">
              <a:buNone/>
            </a:pPr>
            <a:r>
              <a:rPr lang="en-US" sz="1900" b="1" dirty="0">
                <a:solidFill>
                  <a:srgbClr val="1F4E79"/>
                </a:solidFill>
                <a:latin typeface="Arial" pitchFamily="34" charset="0"/>
                <a:ea typeface="Arial" pitchFamily="34" charset="-122"/>
                <a:cs typeface="Arial" pitchFamily="34" charset="-120"/>
              </a:rPr>
              <a:t>Use a document when</a:t>
            </a:r>
            <a:endParaRPr lang="en-US" sz="1900" dirty="0"/>
          </a:p>
        </p:txBody>
      </p:sp>
      <p:sp>
        <p:nvSpPr>
          <p:cNvPr id="9" name="Text 6"/>
          <p:cNvSpPr txBox="1"/>
          <p:nvPr/>
        </p:nvSpPr>
        <p:spPr>
          <a:xfrm>
            <a:off x="4910328" y="1737360"/>
            <a:ext cx="3529584"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output is something a person reads</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reasoning matters as much as the result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Charts and tables belong beside the text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You will produce it again with new data</a:t>
            </a:r>
            <a:endParaRPr lang="en-US" sz="1400" dirty="0"/>
          </a:p>
        </p:txBody>
      </p:sp>
      <p:sp>
        <p:nvSpPr>
          <p:cNvPr id="10" name="Shape 7"/>
          <p:cNvSpPr/>
          <p:nvPr/>
        </p:nvSpPr>
        <p:spPr>
          <a:xfrm>
            <a:off x="502920" y="3858768"/>
            <a:ext cx="8138160" cy="566928"/>
          </a:xfrm>
          <a:prstGeom prst="roundRect">
            <a:avLst>
              <a:gd name="adj" fmla="val 9677"/>
            </a:avLst>
          </a:prstGeom>
          <a:solidFill>
            <a:srgbClr val="FFF2CC"/>
          </a:solidFill>
          <a:ln w="12700">
            <a:solidFill>
              <a:srgbClr val="E0A800"/>
            </a:solidFill>
            <a:prstDash val="solid"/>
          </a:ln>
        </p:spPr>
      </p:sp>
      <p:sp>
        <p:nvSpPr>
          <p:cNvPr id="11" name="Text 8"/>
          <p:cNvSpPr txBox="1"/>
          <p:nvPr/>
        </p:nvSpPr>
        <p:spPr>
          <a:xfrm>
            <a:off x="640080" y="3913632"/>
            <a:ext cx="7863840" cy="457200"/>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The question to ask: what does this piece of work hand to the next step — a dataset, or a reader?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The notebook trap: chunks run out of order produce results you cannot reproduce</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How it happens</a:t>
            </a:r>
            <a:endParaRPr lang="en-US" sz="1800" dirty="0"/>
          </a:p>
        </p:txBody>
      </p:sp>
      <p:sp>
        <p:nvSpPr>
          <p:cNvPr id="5" name="Text 2"/>
          <p:cNvSpPr txBox="1"/>
          <p:nvPr/>
        </p:nvSpPr>
        <p:spPr>
          <a:xfrm>
            <a:off x="502920" y="1499616"/>
            <a:ext cx="3977640"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You run chunk 3 to test something</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Then go back and change chunk 1</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objects in memory no longer match the file</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Your screen shows results the code cannot reproduce</a:t>
            </a:r>
            <a:endParaRPr lang="en-US" sz="1400" dirty="0"/>
          </a:p>
        </p:txBody>
      </p:sp>
      <p:sp>
        <p:nvSpPr>
          <p:cNvPr id="6" name="Text 3"/>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The cure</a:t>
            </a:r>
            <a:endParaRPr lang="en-US" sz="1800" dirty="0"/>
          </a:p>
        </p:txBody>
      </p:sp>
      <p:sp>
        <p:nvSpPr>
          <p:cNvPr id="7" name="Text 4"/>
          <p:cNvSpPr txBox="1"/>
          <p:nvPr/>
        </p:nvSpPr>
        <p:spPr>
          <a:xfrm>
            <a:off x="4709160" y="1499616"/>
            <a:ext cx="3931920"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Render the whole document before you trust it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Rendering starts a fresh session with nothing loaded</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If it renders clean, the results are real</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If it fails, you just caught a bug you could not see</a:t>
            </a:r>
            <a:endParaRPr lang="en-US" sz="1400" dirty="0"/>
          </a:p>
        </p:txBody>
      </p:sp>
      <p:sp>
        <p:nvSpPr>
          <p:cNvPr id="8" name="Shape 5"/>
          <p:cNvSpPr/>
          <p:nvPr/>
        </p:nvSpPr>
        <p:spPr>
          <a:xfrm>
            <a:off x="502920" y="3429000"/>
            <a:ext cx="8138160" cy="713232"/>
          </a:xfrm>
          <a:prstGeom prst="roundRect">
            <a:avLst>
              <a:gd name="adj" fmla="val 7692"/>
            </a:avLst>
          </a:prstGeom>
          <a:solidFill>
            <a:srgbClr val="FFF2CC"/>
          </a:solidFill>
          <a:ln w="12700">
            <a:solidFill>
              <a:srgbClr val="E0A800"/>
            </a:solidFill>
            <a:prstDash val="solid"/>
          </a:ln>
        </p:spPr>
      </p:sp>
      <p:sp>
        <p:nvSpPr>
          <p:cNvPr id="9" name="Text 6"/>
          <p:cNvSpPr txBox="1"/>
          <p:nvPr/>
        </p:nvSpPr>
        <p:spPr>
          <a:xfrm>
            <a:off x="640080" y="3483864"/>
            <a:ext cx="7863840" cy="603504"/>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What is on your screen is not evidence. Only a clean render is evidence. Treat a successful render the way you would treat a passing test.</a:t>
            </a:r>
            <a:endParaRPr lang="en-US" sz="1500" dirty="0"/>
          </a:p>
        </p:txBody>
      </p:sp>
      <p:sp>
        <p:nvSpPr>
          <p:cNvPr id="10" name="Text 7"/>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Quarto renders in a fresh R session by default; see Quarto documentation, Using 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Most real projects use both: scripts do the heavy work, one document tells the story</a:t>
            </a:r>
            <a:endParaRPr lang="en-US" sz="2400" dirty="0"/>
          </a:p>
        </p:txBody>
      </p:sp>
      <p:sp>
        <p:nvSpPr>
          <p:cNvPr id="4" name="Shape 1"/>
          <p:cNvSpPr/>
          <p:nvPr/>
        </p:nvSpPr>
        <p:spPr>
          <a:xfrm>
            <a:off x="502920" y="1298448"/>
            <a:ext cx="2286000" cy="502920"/>
          </a:xfrm>
          <a:prstGeom prst="roundRect">
            <a:avLst>
              <a:gd name="adj" fmla="val 9091"/>
            </a:avLst>
          </a:prstGeom>
          <a:solidFill>
            <a:srgbClr val="F1F4F8"/>
          </a:solidFill>
          <a:ln w="12700">
            <a:solidFill>
              <a:srgbClr val="D6DEE8"/>
            </a:solidFill>
            <a:prstDash val="solid"/>
          </a:ln>
        </p:spPr>
      </p:sp>
      <p:sp>
        <p:nvSpPr>
          <p:cNvPr id="5" name="Text 2"/>
          <p:cNvSpPr txBox="1"/>
          <p:nvPr/>
        </p:nvSpPr>
        <p:spPr>
          <a:xfrm>
            <a:off x="630936" y="1298448"/>
            <a:ext cx="2057400" cy="502920"/>
          </a:xfrm>
          <a:prstGeom prst="rect">
            <a:avLst/>
          </a:prstGeom>
          <a:noFill/>
          <a:ln/>
        </p:spPr>
        <p:txBody>
          <a:bodyPr wrap="square" lIns="0" tIns="0" rIns="0" bIns="0" rtlCol="0" anchor="ctr"/>
          <a:lstStyle/>
          <a:p>
            <a:pPr marL="0" indent="0">
              <a:buNone/>
            </a:pPr>
            <a:r>
              <a:rPr lang="en-US" sz="1250" dirty="0">
                <a:solidFill>
                  <a:srgbClr val="1F4E79"/>
                </a:solidFill>
                <a:latin typeface="Courier New" pitchFamily="34" charset="0"/>
                <a:ea typeface="Courier New" pitchFamily="34" charset="-122"/>
                <a:cs typeface="Courier New" pitchFamily="34" charset="-120"/>
              </a:rPr>
              <a:t>01_clean.R</a:t>
            </a:r>
            <a:endParaRPr lang="en-US" sz="1250" dirty="0"/>
          </a:p>
        </p:txBody>
      </p:sp>
      <p:sp>
        <p:nvSpPr>
          <p:cNvPr id="6" name="Text 3"/>
          <p:cNvSpPr txBox="1"/>
          <p:nvPr/>
        </p:nvSpPr>
        <p:spPr>
          <a:xfrm>
            <a:off x="3063240" y="1298448"/>
            <a:ext cx="5577840" cy="50292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reads raw data, writes processed data</a:t>
            </a:r>
            <a:endParaRPr lang="en-US" sz="1500" dirty="0"/>
          </a:p>
        </p:txBody>
      </p:sp>
      <p:sp>
        <p:nvSpPr>
          <p:cNvPr id="7" name="Shape 4"/>
          <p:cNvSpPr/>
          <p:nvPr/>
        </p:nvSpPr>
        <p:spPr>
          <a:xfrm>
            <a:off x="1508760" y="1828800"/>
            <a:ext cx="182880" cy="201168"/>
          </a:xfrm>
          <a:prstGeom prst="downArrow">
            <a:avLst/>
          </a:prstGeom>
          <a:solidFill>
            <a:srgbClr val="2E75B6"/>
          </a:solidFill>
          <a:ln w="12700">
            <a:solidFill>
              <a:srgbClr val="2E75B6"/>
            </a:solidFill>
            <a:prstDash val="solid"/>
          </a:ln>
        </p:spPr>
      </p:sp>
      <p:sp>
        <p:nvSpPr>
          <p:cNvPr id="8" name="Shape 5"/>
          <p:cNvSpPr/>
          <p:nvPr/>
        </p:nvSpPr>
        <p:spPr>
          <a:xfrm>
            <a:off x="502920" y="2075688"/>
            <a:ext cx="2286000" cy="502920"/>
          </a:xfrm>
          <a:prstGeom prst="roundRect">
            <a:avLst>
              <a:gd name="adj" fmla="val 9091"/>
            </a:avLst>
          </a:prstGeom>
          <a:solidFill>
            <a:srgbClr val="F1F4F8"/>
          </a:solidFill>
          <a:ln w="12700">
            <a:solidFill>
              <a:srgbClr val="D6DEE8"/>
            </a:solidFill>
            <a:prstDash val="solid"/>
          </a:ln>
        </p:spPr>
      </p:sp>
      <p:sp>
        <p:nvSpPr>
          <p:cNvPr id="9" name="Text 6"/>
          <p:cNvSpPr txBox="1"/>
          <p:nvPr/>
        </p:nvSpPr>
        <p:spPr>
          <a:xfrm>
            <a:off x="630936" y="2075688"/>
            <a:ext cx="2057400" cy="502920"/>
          </a:xfrm>
          <a:prstGeom prst="rect">
            <a:avLst/>
          </a:prstGeom>
          <a:noFill/>
          <a:ln/>
        </p:spPr>
        <p:txBody>
          <a:bodyPr wrap="square" lIns="0" tIns="0" rIns="0" bIns="0" rtlCol="0" anchor="ctr"/>
          <a:lstStyle/>
          <a:p>
            <a:pPr marL="0" indent="0">
              <a:buNone/>
            </a:pPr>
            <a:r>
              <a:rPr lang="en-US" sz="1250" dirty="0">
                <a:solidFill>
                  <a:srgbClr val="1F4E79"/>
                </a:solidFill>
                <a:latin typeface="Courier New" pitchFamily="34" charset="0"/>
                <a:ea typeface="Courier New" pitchFamily="34" charset="-122"/>
                <a:cs typeface="Courier New" pitchFamily="34" charset="-120"/>
              </a:rPr>
              <a:t>02_model.R</a:t>
            </a:r>
            <a:endParaRPr lang="en-US" sz="1250" dirty="0"/>
          </a:p>
        </p:txBody>
      </p:sp>
      <p:sp>
        <p:nvSpPr>
          <p:cNvPr id="10" name="Text 7"/>
          <p:cNvSpPr txBox="1"/>
          <p:nvPr/>
        </p:nvSpPr>
        <p:spPr>
          <a:xfrm>
            <a:off x="3063240" y="2075688"/>
            <a:ext cx="5577840" cy="50292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reads processed data, writes model results</a:t>
            </a:r>
            <a:endParaRPr lang="en-US" sz="1500" dirty="0"/>
          </a:p>
        </p:txBody>
      </p:sp>
      <p:sp>
        <p:nvSpPr>
          <p:cNvPr id="11" name="Shape 8"/>
          <p:cNvSpPr/>
          <p:nvPr/>
        </p:nvSpPr>
        <p:spPr>
          <a:xfrm>
            <a:off x="1508760" y="2606040"/>
            <a:ext cx="182880" cy="201168"/>
          </a:xfrm>
          <a:prstGeom prst="downArrow">
            <a:avLst/>
          </a:prstGeom>
          <a:solidFill>
            <a:srgbClr val="2E75B6"/>
          </a:solidFill>
          <a:ln w="12700">
            <a:solidFill>
              <a:srgbClr val="2E75B6"/>
            </a:solidFill>
            <a:prstDash val="solid"/>
          </a:ln>
        </p:spPr>
      </p:sp>
      <p:sp>
        <p:nvSpPr>
          <p:cNvPr id="12" name="Shape 9"/>
          <p:cNvSpPr/>
          <p:nvPr/>
        </p:nvSpPr>
        <p:spPr>
          <a:xfrm>
            <a:off x="502920" y="2852928"/>
            <a:ext cx="2286000" cy="502920"/>
          </a:xfrm>
          <a:prstGeom prst="roundRect">
            <a:avLst>
              <a:gd name="adj" fmla="val 9091"/>
            </a:avLst>
          </a:prstGeom>
          <a:solidFill>
            <a:srgbClr val="EBF3FA"/>
          </a:solidFill>
          <a:ln w="12700">
            <a:solidFill>
              <a:srgbClr val="2E75B6"/>
            </a:solidFill>
            <a:prstDash val="solid"/>
          </a:ln>
        </p:spPr>
      </p:sp>
      <p:sp>
        <p:nvSpPr>
          <p:cNvPr id="13" name="Text 10"/>
          <p:cNvSpPr txBox="1"/>
          <p:nvPr/>
        </p:nvSpPr>
        <p:spPr>
          <a:xfrm>
            <a:off x="630936" y="2852928"/>
            <a:ext cx="2057400" cy="502920"/>
          </a:xfrm>
          <a:prstGeom prst="rect">
            <a:avLst/>
          </a:prstGeom>
          <a:noFill/>
          <a:ln/>
        </p:spPr>
        <p:txBody>
          <a:bodyPr wrap="square" lIns="0" tIns="0" rIns="0" bIns="0" rtlCol="0" anchor="ctr"/>
          <a:lstStyle/>
          <a:p>
            <a:pPr marL="0" indent="0">
              <a:buNone/>
            </a:pPr>
            <a:r>
              <a:rPr lang="en-US" sz="1250" dirty="0">
                <a:solidFill>
                  <a:srgbClr val="1F4E79"/>
                </a:solidFill>
                <a:latin typeface="Courier New" pitchFamily="34" charset="0"/>
                <a:ea typeface="Courier New" pitchFamily="34" charset="-122"/>
                <a:cs typeface="Courier New" pitchFamily="34" charset="-120"/>
              </a:rPr>
              <a:t>report.qmd</a:t>
            </a:r>
            <a:endParaRPr lang="en-US" sz="1250" dirty="0"/>
          </a:p>
        </p:txBody>
      </p:sp>
      <p:sp>
        <p:nvSpPr>
          <p:cNvPr id="14" name="Text 11"/>
          <p:cNvSpPr txBox="1"/>
          <p:nvPr/>
        </p:nvSpPr>
        <p:spPr>
          <a:xfrm>
            <a:off x="3063240" y="2852928"/>
            <a:ext cx="5577840" cy="50292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reads the results, and explains them</a:t>
            </a:r>
            <a:endParaRPr lang="en-US" sz="1500" dirty="0"/>
          </a:p>
        </p:txBody>
      </p:sp>
      <p:sp>
        <p:nvSpPr>
          <p:cNvPr id="15" name="Shape 12"/>
          <p:cNvSpPr/>
          <p:nvPr/>
        </p:nvSpPr>
        <p:spPr>
          <a:xfrm>
            <a:off x="502920" y="3749040"/>
            <a:ext cx="8138160" cy="713232"/>
          </a:xfrm>
          <a:prstGeom prst="roundRect">
            <a:avLst>
              <a:gd name="adj" fmla="val 7692"/>
            </a:avLst>
          </a:prstGeom>
          <a:solidFill>
            <a:srgbClr val="FFF2CC"/>
          </a:solidFill>
          <a:ln w="12700">
            <a:solidFill>
              <a:srgbClr val="E0A800"/>
            </a:solidFill>
            <a:prstDash val="solid"/>
          </a:ln>
        </p:spPr>
      </p:sp>
      <p:sp>
        <p:nvSpPr>
          <p:cNvPr id="16" name="Text 13"/>
          <p:cNvSpPr txBox="1"/>
          <p:nvPr/>
        </p:nvSpPr>
        <p:spPr>
          <a:xfrm>
            <a:off x="640080" y="3803904"/>
            <a:ext cx="7863840" cy="603504"/>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The report does not redo the analysis — it reads the results and explains them. That keeps rendering fast, and a report nobody waits for is a report that gets rendered.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3A5C"/>
        </a:solidFill>
        <a:effectLst/>
      </p:bgPr>
    </p:bg>
    <p:spTree>
      <p:nvGrpSpPr>
        <p:cNvPr id="1" name=""/>
        <p:cNvGrpSpPr/>
        <p:nvPr/>
      </p:nvGrpSpPr>
      <p:grpSpPr>
        <a:xfrm>
          <a:off x="0" y="0"/>
          <a:ext cx="0" cy="0"/>
          <a:chOff x="0" y="0"/>
          <a:chExt cx="0" cy="0"/>
        </a:xfrm>
      </p:grpSpPr>
      <p:sp>
        <p:nvSpPr>
          <p:cNvPr id="2" name="Text 0"/>
          <p:cNvSpPr txBox="1"/>
          <p:nvPr/>
        </p:nvSpPr>
        <p:spPr>
          <a:xfrm>
            <a:off x="502920" y="1600200"/>
            <a:ext cx="8138160" cy="365760"/>
          </a:xfrm>
          <a:prstGeom prst="rect">
            <a:avLst/>
          </a:prstGeom>
          <a:noFill/>
          <a:ln/>
        </p:spPr>
        <p:txBody>
          <a:bodyPr wrap="square" lIns="0" tIns="0" rIns="0" bIns="0" rtlCol="0" anchor="ctr"/>
          <a:lstStyle/>
          <a:p>
            <a:pPr marL="0" indent="0">
              <a:buNone/>
            </a:pPr>
            <a:r>
              <a:rPr lang="en-US" sz="1600" dirty="0">
                <a:solidFill>
                  <a:srgbClr val="7BAFD4"/>
                </a:solidFill>
                <a:latin typeface="Arial" pitchFamily="34" charset="0"/>
                <a:ea typeface="Arial" pitchFamily="34" charset="-122"/>
                <a:cs typeface="Arial" pitchFamily="34" charset="-120"/>
              </a:rPr>
              <a:t>Part 3</a:t>
            </a:r>
            <a:endParaRPr lang="en-US" sz="1600" dirty="0"/>
          </a:p>
        </p:txBody>
      </p:sp>
      <p:sp>
        <p:nvSpPr>
          <p:cNvPr id="3" name="Text 1"/>
          <p:cNvSpPr txBox="1"/>
          <p:nvPr/>
        </p:nvSpPr>
        <p:spPr>
          <a:xfrm>
            <a:off x="502920" y="1965960"/>
            <a:ext cx="8138160" cy="8229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The output</a:t>
            </a:r>
            <a:endParaRPr lang="en-US" sz="3400" dirty="0"/>
          </a:p>
        </p:txBody>
      </p:sp>
      <p:sp>
        <p:nvSpPr>
          <p:cNvPr id="4" name="Shape 2"/>
          <p:cNvSpPr/>
          <p:nvPr/>
        </p:nvSpPr>
        <p:spPr>
          <a:xfrm>
            <a:off x="502920" y="2852928"/>
            <a:ext cx="2194560" cy="54864"/>
          </a:xfrm>
          <a:prstGeom prst="rect">
            <a:avLst/>
          </a:prstGeom>
          <a:solidFill>
            <a:srgbClr val="2E75B6"/>
          </a:solidFill>
          <a:ln w="12700">
            <a:solidFill>
              <a:srgbClr val="2E75B6"/>
            </a:solidFill>
            <a:prstDash val="solid"/>
          </a:ln>
        </p:spPr>
      </p:sp>
      <p:sp>
        <p:nvSpPr>
          <p:cNvPr id="5" name="Text 3"/>
          <p:cNvSpPr txBox="1"/>
          <p:nvPr/>
        </p:nvSpPr>
        <p:spPr>
          <a:xfrm>
            <a:off x="502920" y="3108960"/>
            <a:ext cx="6583680" cy="640080"/>
          </a:xfrm>
          <a:prstGeom prst="rect">
            <a:avLst/>
          </a:prstGeom>
          <a:noFill/>
          <a:ln/>
        </p:spPr>
        <p:txBody>
          <a:bodyPr wrap="square" lIns="0" tIns="0" rIns="0" bIns="0" rtlCol="0" anchor="ctr"/>
          <a:lstStyle/>
          <a:p>
            <a:pPr marL="0" indent="0">
              <a:buNone/>
            </a:pPr>
            <a:r>
              <a:rPr lang="en-US" sz="1700" dirty="0">
                <a:solidFill>
                  <a:srgbClr val="CADCFC"/>
                </a:solidFill>
                <a:latin typeface="Arial" pitchFamily="34" charset="0"/>
                <a:ea typeface="Arial" pitchFamily="34" charset="-122"/>
                <a:cs typeface="Arial" pitchFamily="34" charset="-120"/>
              </a:rPr>
              <a:t>Markdown language, and how one source file becomes every report format you need</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Markdown is plain text, which is why Git can actually review your writing</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The whole syntax, near enough</a:t>
            </a:r>
            <a:endParaRPr lang="en-US" sz="1800" dirty="0"/>
          </a:p>
        </p:txBody>
      </p:sp>
      <p:sp>
        <p:nvSpPr>
          <p:cNvPr id="5" name="Shape 2"/>
          <p:cNvSpPr/>
          <p:nvPr/>
        </p:nvSpPr>
        <p:spPr>
          <a:xfrm>
            <a:off x="502920" y="1499616"/>
            <a:ext cx="3977640" cy="1600200"/>
          </a:xfrm>
          <a:prstGeom prst="roundRect">
            <a:avLst>
              <a:gd name="adj" fmla="val 2857"/>
            </a:avLst>
          </a:prstGeom>
          <a:solidFill>
            <a:srgbClr val="F1F4F8"/>
          </a:solidFill>
          <a:ln w="12700">
            <a:solidFill>
              <a:srgbClr val="D6DEE8"/>
            </a:solidFill>
            <a:prstDash val="solid"/>
          </a:ln>
        </p:spPr>
      </p:sp>
      <p:sp>
        <p:nvSpPr>
          <p:cNvPr id="6" name="Text 3"/>
          <p:cNvSpPr txBox="1"/>
          <p:nvPr/>
        </p:nvSpPr>
        <p:spPr>
          <a:xfrm>
            <a:off x="630936" y="1572768"/>
            <a:ext cx="3721608" cy="1453896"/>
          </a:xfrm>
          <a:prstGeom prst="rect">
            <a:avLst/>
          </a:prstGeom>
          <a:noFill/>
          <a:ln/>
        </p:spPr>
        <p:txBody>
          <a:bodyPr wrap="square" lIns="0" tIns="0" rIns="0" bIns="0" rtlCol="0" anchor="ctr"/>
          <a:lstStyle/>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Heading      ## Subheading</a:t>
            </a:r>
            <a:endParaRPr lang="en-US" sz="1150" dirty="0"/>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**bold**       *italic*</a:t>
            </a:r>
            <a:endParaRPr lang="en-US" sz="1150" dirty="0"/>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a bullet     1. numbered</a:t>
            </a:r>
            <a:endParaRPr lang="en-US" sz="1150" dirty="0"/>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[link](url)    `code`</a:t>
            </a:r>
            <a:endParaRPr lang="en-US" sz="1150" dirty="0"/>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col | col |  tables</a:t>
            </a:r>
            <a:endParaRPr lang="en-US" sz="1150" dirty="0"/>
          </a:p>
        </p:txBody>
      </p:sp>
      <p:sp>
        <p:nvSpPr>
          <p:cNvPr id="7" name="Text 4"/>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Why plain text wins</a:t>
            </a:r>
            <a:endParaRPr lang="en-US" sz="1800" dirty="0"/>
          </a:p>
        </p:txBody>
      </p:sp>
      <p:sp>
        <p:nvSpPr>
          <p:cNvPr id="8" name="Text 5"/>
          <p:cNvSpPr txBox="1"/>
          <p:nvPr/>
        </p:nvSpPr>
        <p:spPr>
          <a:xfrm>
            <a:off x="4709160" y="1499616"/>
            <a:ext cx="3931920" cy="2011680"/>
          </a:xfrm>
          <a:prstGeom prst="rect">
            <a:avLst/>
          </a:prstGeom>
          <a:noFill/>
          <a:ln/>
        </p:spPr>
        <p:txBody>
          <a:bodyPr wrap="square" lIns="0" tIns="0" rIns="0" bIns="0" rtlCol="0" anchor="ctr"/>
          <a:lstStyle/>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Reviewable: </a:t>
            </a:r>
            <a:r>
              <a:rPr lang="en-US" sz="1400" dirty="0">
                <a:solidFill>
                  <a:srgbClr val="2D2D2D"/>
                </a:solidFill>
                <a:latin typeface="Arial" pitchFamily="34" charset="0"/>
                <a:ea typeface="Arial" pitchFamily="34" charset="-122"/>
                <a:cs typeface="Arial" pitchFamily="34" charset="-120"/>
              </a:rPr>
              <a:t>git diff shows every sentence you changed</a:t>
            </a:r>
            <a:endParaRPr lang="en-US" sz="1400" dirty="0"/>
          </a:p>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Durable: </a:t>
            </a:r>
            <a:r>
              <a:rPr lang="en-US" sz="1400" dirty="0">
                <a:solidFill>
                  <a:srgbClr val="2D2D2D"/>
                </a:solidFill>
                <a:latin typeface="Arial" pitchFamily="34" charset="0"/>
                <a:ea typeface="Arial" pitchFamily="34" charset="-122"/>
                <a:cs typeface="Arial" pitchFamily="34" charset="-120"/>
              </a:rPr>
              <a:t>opens in any editor, on any machine, in any year</a:t>
            </a:r>
            <a:endParaRPr lang="en-US" sz="1400" dirty="0"/>
          </a:p>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Convertible: </a:t>
            </a:r>
            <a:r>
              <a:rPr lang="en-US" sz="1400" dirty="0">
                <a:solidFill>
                  <a:srgbClr val="2D2D2D"/>
                </a:solidFill>
                <a:latin typeface="Arial" pitchFamily="34" charset="0"/>
                <a:ea typeface="Arial" pitchFamily="34" charset="-122"/>
                <a:cs typeface="Arial" pitchFamily="34" charset="-120"/>
              </a:rPr>
              <a:t>one source, many output formats</a:t>
            </a:r>
            <a:endParaRPr lang="en-US" sz="1400" dirty="0"/>
          </a:p>
          <a:p>
            <a:pPr marL="0" indent="0">
              <a:spcAft>
                <a:spcPts val="1000"/>
              </a:spcAft>
              <a:buNone/>
            </a:pPr>
            <a:r>
              <a:rPr lang="en-US" sz="1400" b="1" dirty="0">
                <a:solidFill>
                  <a:srgbClr val="2D2D2D"/>
                </a:solidFill>
                <a:latin typeface="Arial" pitchFamily="34" charset="0"/>
                <a:ea typeface="Arial" pitchFamily="34" charset="-122"/>
                <a:cs typeface="Arial" pitchFamily="34" charset="-120"/>
              </a:rPr>
              <a:t>Small: </a:t>
            </a:r>
            <a:r>
              <a:rPr lang="en-US" sz="1400" dirty="0">
                <a:solidFill>
                  <a:srgbClr val="2D2D2D"/>
                </a:solidFill>
                <a:latin typeface="Arial" pitchFamily="34" charset="0"/>
                <a:ea typeface="Arial" pitchFamily="34" charset="-122"/>
                <a:cs typeface="Arial" pitchFamily="34" charset="-120"/>
              </a:rPr>
              <a:t>no hidden formatting to corrupt or fight with</a:t>
            </a:r>
            <a:endParaRPr lang="en-US" sz="1400" dirty="0"/>
          </a:p>
        </p:txBody>
      </p:sp>
      <p:sp>
        <p:nvSpPr>
          <p:cNvPr id="9" name="Shape 6"/>
          <p:cNvSpPr/>
          <p:nvPr/>
        </p:nvSpPr>
        <p:spPr>
          <a:xfrm>
            <a:off x="502920" y="3851040"/>
            <a:ext cx="8138160" cy="658368"/>
          </a:xfrm>
          <a:prstGeom prst="roundRect">
            <a:avLst>
              <a:gd name="adj" fmla="val 8333"/>
            </a:avLst>
          </a:prstGeom>
          <a:solidFill>
            <a:srgbClr val="FFF2CC"/>
          </a:solidFill>
          <a:ln w="12700">
            <a:solidFill>
              <a:srgbClr val="E0A800"/>
            </a:solidFill>
            <a:prstDash val="solid"/>
          </a:ln>
        </p:spPr>
      </p:sp>
      <p:sp>
        <p:nvSpPr>
          <p:cNvPr id="10" name="Text 7"/>
          <p:cNvSpPr txBox="1"/>
          <p:nvPr/>
        </p:nvSpPr>
        <p:spPr>
          <a:xfrm>
            <a:off x="640080" y="3905904"/>
            <a:ext cx="7863840" cy="548640"/>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A Word file is a binary file: git diff on it tells you nothing at all. Markdown is the reason your writing can go through the same review process as your code.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 Quarto document has three parts: a header, your prose, and code chunks</a:t>
            </a:r>
            <a:endParaRPr lang="en-US" sz="2400" dirty="0"/>
          </a:p>
        </p:txBody>
      </p:sp>
      <p:sp>
        <p:nvSpPr>
          <p:cNvPr id="4" name="Shape 1"/>
          <p:cNvSpPr/>
          <p:nvPr/>
        </p:nvSpPr>
        <p:spPr>
          <a:xfrm>
            <a:off x="502920" y="1170432"/>
            <a:ext cx="4709160" cy="2999232"/>
          </a:xfrm>
          <a:prstGeom prst="roundRect">
            <a:avLst>
              <a:gd name="adj" fmla="val 1754"/>
            </a:avLst>
          </a:prstGeom>
          <a:solidFill>
            <a:srgbClr val="F1F4F8"/>
          </a:solidFill>
          <a:ln w="12700">
            <a:solidFill>
              <a:srgbClr val="D6DEE8"/>
            </a:solidFill>
            <a:prstDash val="solid"/>
          </a:ln>
        </p:spPr>
      </p:sp>
      <p:sp>
        <p:nvSpPr>
          <p:cNvPr id="5" name="Text 2"/>
          <p:cNvSpPr txBox="1"/>
          <p:nvPr/>
        </p:nvSpPr>
        <p:spPr>
          <a:xfrm>
            <a:off x="630936" y="1243583"/>
            <a:ext cx="4453128" cy="2864777"/>
          </a:xfrm>
          <a:prstGeom prst="rect">
            <a:avLst/>
          </a:prstGeom>
          <a:noFill/>
          <a:ln/>
        </p:spPr>
        <p:txBody>
          <a:bodyPr wrap="square" lIns="0" tIns="0" rIns="0" bIns="0" rtlCol="0" anchor="t"/>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title: "Regional Sales Review"</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author: "Group 4"</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format: html</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t>
            </a:r>
            <a:endParaRPr lang="en-US" sz="1100" dirty="0"/>
          </a:p>
          <a:p>
            <a:pPr marL="0" indent="0">
              <a:lnSpc>
                <a:spcPct val="115000"/>
              </a:lnSpc>
              <a:buNone/>
            </a:pP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Revenue by region</a:t>
            </a:r>
            <a:endParaRPr lang="en-US" sz="1100" dirty="0"/>
          </a:p>
          <a:p>
            <a:pPr marL="0" indent="0">
              <a:lnSpc>
                <a:spcPct val="115000"/>
              </a:lnSpc>
              <a:buNone/>
            </a:pP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Revenue grew fastest in the north.</a:t>
            </a:r>
            <a:endParaRPr lang="en-US" sz="1100" dirty="0"/>
          </a:p>
          <a:p>
            <a:pPr marL="0" indent="0">
              <a:lnSpc>
                <a:spcPct val="115000"/>
              </a:lnSpc>
              <a:buNone/>
            </a:pP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library(here)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Tuition &lt;- readRDS(here("data", "process",</a:t>
            </a:r>
            <a:endParaRPr lang="en-US" sz="1100" dirty="0"/>
          </a:p>
          <a:p>
            <a:pPr>
              <a:lnSpc>
                <a:spcPct val="115000"/>
              </a:lnSpc>
            </a:pPr>
            <a:r>
              <a:rPr lang="en-US" sz="1100" dirty="0">
                <a:solidFill>
                  <a:srgbClr val="2D2D2D"/>
                </a:solidFill>
                <a:latin typeface="Courier New" pitchFamily="34" charset="0"/>
                <a:ea typeface="Courier New" pitchFamily="34" charset="-122"/>
                <a:cs typeface="Courier New" pitchFamily="34" charset="-120"/>
              </a:rPr>
              <a:t>                      "</a:t>
            </a:r>
            <a:r>
              <a:rPr lang="en-US" sz="1100" dirty="0" err="1">
                <a:solidFill>
                  <a:srgbClr val="2D2D2D"/>
                </a:solidFill>
                <a:latin typeface="Courier New" pitchFamily="34" charset="0"/>
                <a:ea typeface="Courier New" pitchFamily="34" charset="-122"/>
                <a:cs typeface="Courier New" pitchFamily="34" charset="-120"/>
              </a:rPr>
              <a:t>Tuition_clean.rds</a:t>
            </a:r>
            <a:r>
              <a:rPr lang="en-US" sz="1100" dirty="0">
                <a:solidFill>
                  <a:srgbClr val="2D2D2D"/>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t>
            </a:r>
            <a:endParaRPr lang="en-US" sz="1100" dirty="0"/>
          </a:p>
        </p:txBody>
      </p:sp>
      <p:sp>
        <p:nvSpPr>
          <p:cNvPr id="6" name="Text 3"/>
          <p:cNvSpPr txBox="1"/>
          <p:nvPr/>
        </p:nvSpPr>
        <p:spPr>
          <a:xfrm>
            <a:off x="5440680" y="1207008"/>
            <a:ext cx="3200400" cy="292608"/>
          </a:xfrm>
          <a:prstGeom prst="rect">
            <a:avLst/>
          </a:prstGeom>
          <a:noFill/>
          <a:ln/>
        </p:spPr>
        <p:txBody>
          <a:bodyPr wrap="square" lIns="0" tIns="0" rIns="0" bIns="0" rtlCol="0" anchor="ctr"/>
          <a:lstStyle/>
          <a:p>
            <a:pPr marL="0" indent="0">
              <a:buNone/>
            </a:pPr>
            <a:r>
              <a:rPr lang="en-US" sz="1600" b="1" dirty="0">
                <a:solidFill>
                  <a:srgbClr val="2E75B6"/>
                </a:solidFill>
                <a:latin typeface="Arial" pitchFamily="34" charset="0"/>
                <a:ea typeface="Arial" pitchFamily="34" charset="-122"/>
                <a:cs typeface="Arial" pitchFamily="34" charset="-120"/>
              </a:rPr>
              <a:t>YAML header</a:t>
            </a:r>
            <a:endParaRPr lang="en-US" sz="1600" dirty="0"/>
          </a:p>
        </p:txBody>
      </p:sp>
      <p:sp>
        <p:nvSpPr>
          <p:cNvPr id="7" name="Text 4"/>
          <p:cNvSpPr txBox="1"/>
          <p:nvPr/>
        </p:nvSpPr>
        <p:spPr>
          <a:xfrm>
            <a:off x="5440680" y="1499616"/>
            <a:ext cx="3200400" cy="56692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Between the three dashes. Title, author, and the output format.</a:t>
            </a:r>
            <a:endParaRPr lang="en-US" sz="1350" dirty="0"/>
          </a:p>
        </p:txBody>
      </p:sp>
      <p:sp>
        <p:nvSpPr>
          <p:cNvPr id="8" name="Text 5"/>
          <p:cNvSpPr txBox="1"/>
          <p:nvPr/>
        </p:nvSpPr>
        <p:spPr>
          <a:xfrm>
            <a:off x="5440680" y="2121408"/>
            <a:ext cx="3200400" cy="292608"/>
          </a:xfrm>
          <a:prstGeom prst="rect">
            <a:avLst/>
          </a:prstGeom>
          <a:noFill/>
          <a:ln/>
        </p:spPr>
        <p:txBody>
          <a:bodyPr wrap="square" lIns="0" tIns="0" rIns="0" bIns="0" rtlCol="0" anchor="ctr"/>
          <a:lstStyle/>
          <a:p>
            <a:pPr marL="0" indent="0">
              <a:buNone/>
            </a:pPr>
            <a:r>
              <a:rPr lang="en-US" sz="1600" b="1" dirty="0">
                <a:solidFill>
                  <a:srgbClr val="2E75B6"/>
                </a:solidFill>
                <a:latin typeface="Arial" pitchFamily="34" charset="0"/>
                <a:ea typeface="Arial" pitchFamily="34" charset="-122"/>
                <a:cs typeface="Arial" pitchFamily="34" charset="-120"/>
              </a:rPr>
              <a:t>Prose</a:t>
            </a:r>
            <a:endParaRPr lang="en-US" sz="1600" dirty="0"/>
          </a:p>
        </p:txBody>
      </p:sp>
      <p:sp>
        <p:nvSpPr>
          <p:cNvPr id="9" name="Text 6"/>
          <p:cNvSpPr txBox="1"/>
          <p:nvPr/>
        </p:nvSpPr>
        <p:spPr>
          <a:xfrm>
            <a:off x="5440680" y="2414016"/>
            <a:ext cx="3200400" cy="56692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Plain markdown. Headings, sentences, lists, links.</a:t>
            </a:r>
            <a:endParaRPr lang="en-US" sz="1350" dirty="0"/>
          </a:p>
        </p:txBody>
      </p:sp>
      <p:sp>
        <p:nvSpPr>
          <p:cNvPr id="10" name="Text 7"/>
          <p:cNvSpPr txBox="1"/>
          <p:nvPr/>
        </p:nvSpPr>
        <p:spPr>
          <a:xfrm>
            <a:off x="5440680" y="3035808"/>
            <a:ext cx="3200400" cy="292608"/>
          </a:xfrm>
          <a:prstGeom prst="rect">
            <a:avLst/>
          </a:prstGeom>
          <a:noFill/>
          <a:ln/>
        </p:spPr>
        <p:txBody>
          <a:bodyPr wrap="square" lIns="0" tIns="0" rIns="0" bIns="0" rtlCol="0" anchor="ctr"/>
          <a:lstStyle/>
          <a:p>
            <a:pPr marL="0" indent="0">
              <a:buNone/>
            </a:pPr>
            <a:r>
              <a:rPr lang="en-US" sz="1600" b="1" dirty="0">
                <a:solidFill>
                  <a:srgbClr val="2E75B6"/>
                </a:solidFill>
                <a:latin typeface="Arial" pitchFamily="34" charset="0"/>
                <a:ea typeface="Arial" pitchFamily="34" charset="-122"/>
                <a:cs typeface="Arial" pitchFamily="34" charset="-120"/>
              </a:rPr>
              <a:t>Code chunks</a:t>
            </a:r>
            <a:endParaRPr lang="en-US" sz="1600" dirty="0"/>
          </a:p>
        </p:txBody>
      </p:sp>
      <p:sp>
        <p:nvSpPr>
          <p:cNvPr id="11" name="Text 8"/>
          <p:cNvSpPr txBox="1"/>
          <p:nvPr/>
        </p:nvSpPr>
        <p:spPr>
          <a:xfrm>
            <a:off x="5440680" y="3328416"/>
            <a:ext cx="3200400" cy="56692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Between ```{r} fences. These run when you render.</a:t>
            </a:r>
            <a:endParaRPr lang="en-US" sz="1350" dirty="0"/>
          </a:p>
        </p:txBody>
      </p:sp>
      <p:sp>
        <p:nvSpPr>
          <p:cNvPr id="12" name="Shape 9"/>
          <p:cNvSpPr/>
          <p:nvPr/>
        </p:nvSpPr>
        <p:spPr>
          <a:xfrm>
            <a:off x="5440680" y="3977640"/>
            <a:ext cx="3200400" cy="658368"/>
          </a:xfrm>
          <a:prstGeom prst="roundRect">
            <a:avLst>
              <a:gd name="adj" fmla="val 8333"/>
            </a:avLst>
          </a:prstGeom>
          <a:solidFill>
            <a:srgbClr val="FFF2CC"/>
          </a:solidFill>
          <a:ln w="12700">
            <a:solidFill>
              <a:srgbClr val="E0A800"/>
            </a:solidFill>
            <a:prstDash val="solid"/>
          </a:ln>
        </p:spPr>
      </p:sp>
      <p:sp>
        <p:nvSpPr>
          <p:cNvPr id="13" name="Text 10"/>
          <p:cNvSpPr txBox="1"/>
          <p:nvPr/>
        </p:nvSpPr>
        <p:spPr>
          <a:xfrm>
            <a:off x="5577840" y="4032504"/>
            <a:ext cx="2926080" cy="548640"/>
          </a:xfrm>
          <a:prstGeom prst="rect">
            <a:avLst/>
          </a:prstGeom>
          <a:noFill/>
          <a:ln/>
        </p:spPr>
        <p:txBody>
          <a:bodyPr wrap="square" lIns="0" tIns="0" rIns="0" bIns="0" rtlCol="0" anchor="ctr"/>
          <a:lstStyle/>
          <a:p>
            <a:pPr marL="0" indent="0" algn="l">
              <a:buNone/>
            </a:pPr>
            <a:r>
              <a:rPr lang="en-US" sz="1350" b="1" dirty="0">
                <a:solidFill>
                  <a:srgbClr val="7A5200"/>
                </a:solidFill>
                <a:latin typeface="Arial" pitchFamily="34" charset="0"/>
                <a:ea typeface="Arial" pitchFamily="34" charset="-122"/>
                <a:cs typeface="Arial" pitchFamily="34" charset="-120"/>
              </a:rPr>
              <a:t>Render with the button at the top of the editor, or Ctrl/Cmd + Shift + K.</a:t>
            </a:r>
            <a:endParaRPr lang="en-US" sz="1350" dirty="0"/>
          </a:p>
        </p:txBody>
      </p:sp>
      <p:sp>
        <p:nvSpPr>
          <p:cNvPr id="14" name="Text 11"/>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Source: Quarto documentation, Using R (quarto.org).</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Code chunk options decide what the reader sees, without deleting any code</a:t>
            </a:r>
            <a:endParaRPr lang="en-US" sz="2400" dirty="0"/>
          </a:p>
        </p:txBody>
      </p:sp>
      <p:sp>
        <p:nvSpPr>
          <p:cNvPr id="4" name="Shape 1"/>
          <p:cNvSpPr/>
          <p:nvPr/>
        </p:nvSpPr>
        <p:spPr>
          <a:xfrm>
            <a:off x="502920" y="1170432"/>
            <a:ext cx="3931920" cy="1371600"/>
          </a:xfrm>
          <a:prstGeom prst="roundRect">
            <a:avLst>
              <a:gd name="adj" fmla="val 3333"/>
            </a:avLst>
          </a:prstGeom>
          <a:solidFill>
            <a:srgbClr val="F1F4F8"/>
          </a:solidFill>
          <a:ln w="12700">
            <a:solidFill>
              <a:srgbClr val="D6DEE8"/>
            </a:solidFill>
            <a:prstDash val="solid"/>
          </a:ln>
        </p:spPr>
      </p:sp>
      <p:sp>
        <p:nvSpPr>
          <p:cNvPr id="5" name="Text 2"/>
          <p:cNvSpPr txBox="1"/>
          <p:nvPr/>
        </p:nvSpPr>
        <p:spPr>
          <a:xfrm>
            <a:off x="630936" y="1243584"/>
            <a:ext cx="3675888" cy="1225296"/>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echo: false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warning: false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fig-cap: “Histogram of tuition"</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hist(</a:t>
            </a:r>
            <a:r>
              <a:rPr lang="en-US" sz="1100" dirty="0" err="1">
                <a:solidFill>
                  <a:srgbClr val="2D2D2D"/>
                </a:solidFill>
                <a:latin typeface="Courier New" pitchFamily="34" charset="0"/>
                <a:ea typeface="Courier New" pitchFamily="34" charset="-122"/>
                <a:cs typeface="Courier New" pitchFamily="34" charset="-120"/>
              </a:rPr>
              <a:t>Tuition$tuition</a:t>
            </a:r>
            <a:r>
              <a:rPr lang="en-US" sz="1100" dirty="0">
                <a:solidFill>
                  <a:srgbClr val="2D2D2D"/>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a:t>
            </a:r>
            <a:endParaRPr lang="en-US" sz="1100" dirty="0"/>
          </a:p>
        </p:txBody>
      </p:sp>
      <p:sp>
        <p:nvSpPr>
          <p:cNvPr id="6" name="Shape 3"/>
          <p:cNvSpPr/>
          <p:nvPr/>
        </p:nvSpPr>
        <p:spPr>
          <a:xfrm>
            <a:off x="4709160" y="1188720"/>
            <a:ext cx="1234440" cy="365760"/>
          </a:xfrm>
          <a:prstGeom prst="roundRect">
            <a:avLst>
              <a:gd name="adj" fmla="val 10000"/>
            </a:avLst>
          </a:prstGeom>
          <a:solidFill>
            <a:srgbClr val="F1F4F8"/>
          </a:solidFill>
          <a:ln w="12700">
            <a:solidFill>
              <a:srgbClr val="D6DEE8"/>
            </a:solidFill>
            <a:prstDash val="solid"/>
          </a:ln>
        </p:spPr>
      </p:sp>
      <p:sp>
        <p:nvSpPr>
          <p:cNvPr id="7" name="Text 4"/>
          <p:cNvSpPr txBox="1"/>
          <p:nvPr/>
        </p:nvSpPr>
        <p:spPr>
          <a:xfrm>
            <a:off x="4791456" y="1188720"/>
            <a:ext cx="1097280" cy="36576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echo</a:t>
            </a:r>
            <a:endParaRPr lang="en-US" sz="1100" dirty="0"/>
          </a:p>
        </p:txBody>
      </p:sp>
      <p:sp>
        <p:nvSpPr>
          <p:cNvPr id="8" name="Text 5"/>
          <p:cNvSpPr txBox="1"/>
          <p:nvPr/>
        </p:nvSpPr>
        <p:spPr>
          <a:xfrm>
            <a:off x="6080760" y="1188720"/>
            <a:ext cx="2560320" cy="365760"/>
          </a:xfrm>
          <a:prstGeom prst="rect">
            <a:avLst/>
          </a:prstGeom>
          <a:noFill/>
          <a:ln/>
        </p:spPr>
        <p:txBody>
          <a:bodyPr wrap="square" lIns="0" tIns="0" rIns="0" bIns="0" rtlCol="0" anchor="ctr"/>
          <a:lstStyle/>
          <a:p>
            <a:pPr marL="0" indent="0">
              <a:buNone/>
            </a:pPr>
            <a:r>
              <a:rPr lang="en-US" sz="1300" dirty="0">
                <a:solidFill>
                  <a:srgbClr val="2D2D2D"/>
                </a:solidFill>
                <a:latin typeface="Arial" pitchFamily="34" charset="0"/>
                <a:ea typeface="Arial" pitchFamily="34" charset="-122"/>
                <a:cs typeface="Arial" pitchFamily="34" charset="-120"/>
              </a:rPr>
              <a:t>show the code, or hide it</a:t>
            </a:r>
            <a:endParaRPr lang="en-US" sz="1300" dirty="0"/>
          </a:p>
        </p:txBody>
      </p:sp>
      <p:sp>
        <p:nvSpPr>
          <p:cNvPr id="9" name="Shape 6"/>
          <p:cNvSpPr/>
          <p:nvPr/>
        </p:nvSpPr>
        <p:spPr>
          <a:xfrm>
            <a:off x="4709160" y="1645920"/>
            <a:ext cx="1234440" cy="365760"/>
          </a:xfrm>
          <a:prstGeom prst="roundRect">
            <a:avLst>
              <a:gd name="adj" fmla="val 10000"/>
            </a:avLst>
          </a:prstGeom>
          <a:solidFill>
            <a:srgbClr val="F1F4F8"/>
          </a:solidFill>
          <a:ln w="12700">
            <a:solidFill>
              <a:srgbClr val="D6DEE8"/>
            </a:solidFill>
            <a:prstDash val="solid"/>
          </a:ln>
        </p:spPr>
      </p:sp>
      <p:sp>
        <p:nvSpPr>
          <p:cNvPr id="10" name="Text 7"/>
          <p:cNvSpPr txBox="1"/>
          <p:nvPr/>
        </p:nvSpPr>
        <p:spPr>
          <a:xfrm>
            <a:off x="4791456" y="1645920"/>
            <a:ext cx="1097280" cy="36576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eval</a:t>
            </a:r>
            <a:endParaRPr lang="en-US" sz="1100" dirty="0"/>
          </a:p>
        </p:txBody>
      </p:sp>
      <p:sp>
        <p:nvSpPr>
          <p:cNvPr id="11" name="Text 8"/>
          <p:cNvSpPr txBox="1"/>
          <p:nvPr/>
        </p:nvSpPr>
        <p:spPr>
          <a:xfrm>
            <a:off x="6080760" y="1645920"/>
            <a:ext cx="2560320" cy="365760"/>
          </a:xfrm>
          <a:prstGeom prst="rect">
            <a:avLst/>
          </a:prstGeom>
          <a:noFill/>
          <a:ln/>
        </p:spPr>
        <p:txBody>
          <a:bodyPr wrap="square" lIns="0" tIns="0" rIns="0" bIns="0" rtlCol="0" anchor="ctr"/>
          <a:lstStyle/>
          <a:p>
            <a:pPr marL="0" indent="0">
              <a:buNone/>
            </a:pPr>
            <a:r>
              <a:rPr lang="en-US" sz="1300" dirty="0">
                <a:solidFill>
                  <a:srgbClr val="2D2D2D"/>
                </a:solidFill>
                <a:latin typeface="Arial" pitchFamily="34" charset="0"/>
                <a:ea typeface="Arial" pitchFamily="34" charset="-122"/>
                <a:cs typeface="Arial" pitchFamily="34" charset="-120"/>
              </a:rPr>
              <a:t>run the code, or skip it</a:t>
            </a:r>
            <a:endParaRPr lang="en-US" sz="1300" dirty="0"/>
          </a:p>
        </p:txBody>
      </p:sp>
      <p:sp>
        <p:nvSpPr>
          <p:cNvPr id="12" name="Shape 9"/>
          <p:cNvSpPr/>
          <p:nvPr/>
        </p:nvSpPr>
        <p:spPr>
          <a:xfrm>
            <a:off x="4709160" y="2103120"/>
            <a:ext cx="1234440" cy="365760"/>
          </a:xfrm>
          <a:prstGeom prst="roundRect">
            <a:avLst>
              <a:gd name="adj" fmla="val 10000"/>
            </a:avLst>
          </a:prstGeom>
          <a:solidFill>
            <a:srgbClr val="F1F4F8"/>
          </a:solidFill>
          <a:ln w="12700">
            <a:solidFill>
              <a:srgbClr val="D6DEE8"/>
            </a:solidFill>
            <a:prstDash val="solid"/>
          </a:ln>
        </p:spPr>
      </p:sp>
      <p:sp>
        <p:nvSpPr>
          <p:cNvPr id="13" name="Text 10"/>
          <p:cNvSpPr txBox="1"/>
          <p:nvPr/>
        </p:nvSpPr>
        <p:spPr>
          <a:xfrm>
            <a:off x="4791456" y="2103120"/>
            <a:ext cx="1097280" cy="36576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warning</a:t>
            </a:r>
            <a:endParaRPr lang="en-US" sz="1100" dirty="0"/>
          </a:p>
        </p:txBody>
      </p:sp>
      <p:sp>
        <p:nvSpPr>
          <p:cNvPr id="14" name="Text 11"/>
          <p:cNvSpPr txBox="1"/>
          <p:nvPr/>
        </p:nvSpPr>
        <p:spPr>
          <a:xfrm>
            <a:off x="6080760" y="2103120"/>
            <a:ext cx="2560320" cy="365760"/>
          </a:xfrm>
          <a:prstGeom prst="rect">
            <a:avLst/>
          </a:prstGeom>
          <a:noFill/>
          <a:ln/>
        </p:spPr>
        <p:txBody>
          <a:bodyPr wrap="square" lIns="0" tIns="0" rIns="0" bIns="0" rtlCol="0" anchor="ctr"/>
          <a:lstStyle/>
          <a:p>
            <a:pPr marL="0" indent="0">
              <a:buNone/>
            </a:pPr>
            <a:r>
              <a:rPr lang="en-US" sz="1300" dirty="0">
                <a:solidFill>
                  <a:srgbClr val="2D2D2D"/>
                </a:solidFill>
                <a:latin typeface="Arial" pitchFamily="34" charset="0"/>
                <a:ea typeface="Arial" pitchFamily="34" charset="-122"/>
                <a:cs typeface="Arial" pitchFamily="34" charset="-120"/>
              </a:rPr>
              <a:t>let warnings through, or suppress</a:t>
            </a:r>
            <a:endParaRPr lang="en-US" sz="1300" dirty="0"/>
          </a:p>
        </p:txBody>
      </p:sp>
      <p:sp>
        <p:nvSpPr>
          <p:cNvPr id="15" name="Shape 12"/>
          <p:cNvSpPr/>
          <p:nvPr/>
        </p:nvSpPr>
        <p:spPr>
          <a:xfrm>
            <a:off x="4709160" y="2560320"/>
            <a:ext cx="1234440" cy="365760"/>
          </a:xfrm>
          <a:prstGeom prst="roundRect">
            <a:avLst>
              <a:gd name="adj" fmla="val 10000"/>
            </a:avLst>
          </a:prstGeom>
          <a:solidFill>
            <a:srgbClr val="F1F4F8"/>
          </a:solidFill>
          <a:ln w="12700">
            <a:solidFill>
              <a:srgbClr val="D6DEE8"/>
            </a:solidFill>
            <a:prstDash val="solid"/>
          </a:ln>
        </p:spPr>
      </p:sp>
      <p:sp>
        <p:nvSpPr>
          <p:cNvPr id="16" name="Text 13"/>
          <p:cNvSpPr txBox="1"/>
          <p:nvPr/>
        </p:nvSpPr>
        <p:spPr>
          <a:xfrm>
            <a:off x="4791456" y="2560320"/>
            <a:ext cx="1097280" cy="36576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message</a:t>
            </a:r>
            <a:endParaRPr lang="en-US" sz="1100" dirty="0"/>
          </a:p>
        </p:txBody>
      </p:sp>
      <p:sp>
        <p:nvSpPr>
          <p:cNvPr id="17" name="Text 14"/>
          <p:cNvSpPr txBox="1"/>
          <p:nvPr/>
        </p:nvSpPr>
        <p:spPr>
          <a:xfrm>
            <a:off x="6080760" y="2560320"/>
            <a:ext cx="2560320" cy="365760"/>
          </a:xfrm>
          <a:prstGeom prst="rect">
            <a:avLst/>
          </a:prstGeom>
          <a:noFill/>
          <a:ln/>
        </p:spPr>
        <p:txBody>
          <a:bodyPr wrap="square" lIns="0" tIns="0" rIns="0" bIns="0" rtlCol="0" anchor="ctr"/>
          <a:lstStyle/>
          <a:p>
            <a:pPr marL="0" indent="0">
              <a:buNone/>
            </a:pPr>
            <a:r>
              <a:rPr lang="en-US" sz="1300" dirty="0">
                <a:solidFill>
                  <a:srgbClr val="2D2D2D"/>
                </a:solidFill>
                <a:latin typeface="Arial" pitchFamily="34" charset="0"/>
                <a:ea typeface="Arial" pitchFamily="34" charset="-122"/>
                <a:cs typeface="Arial" pitchFamily="34" charset="-120"/>
              </a:rPr>
              <a:t>same, for package messages</a:t>
            </a:r>
            <a:endParaRPr lang="en-US" sz="1300" dirty="0"/>
          </a:p>
        </p:txBody>
      </p:sp>
      <p:sp>
        <p:nvSpPr>
          <p:cNvPr id="18" name="Shape 15"/>
          <p:cNvSpPr/>
          <p:nvPr/>
        </p:nvSpPr>
        <p:spPr>
          <a:xfrm>
            <a:off x="4709160" y="3017520"/>
            <a:ext cx="1234440" cy="365760"/>
          </a:xfrm>
          <a:prstGeom prst="roundRect">
            <a:avLst>
              <a:gd name="adj" fmla="val 10000"/>
            </a:avLst>
          </a:prstGeom>
          <a:solidFill>
            <a:srgbClr val="F1F4F8"/>
          </a:solidFill>
          <a:ln w="12700">
            <a:solidFill>
              <a:srgbClr val="D6DEE8"/>
            </a:solidFill>
            <a:prstDash val="solid"/>
          </a:ln>
        </p:spPr>
      </p:sp>
      <p:sp>
        <p:nvSpPr>
          <p:cNvPr id="19" name="Text 16"/>
          <p:cNvSpPr txBox="1"/>
          <p:nvPr/>
        </p:nvSpPr>
        <p:spPr>
          <a:xfrm>
            <a:off x="4791456" y="3017520"/>
            <a:ext cx="1097280" cy="36576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fig-cap</a:t>
            </a:r>
            <a:endParaRPr lang="en-US" sz="1100" dirty="0"/>
          </a:p>
        </p:txBody>
      </p:sp>
      <p:sp>
        <p:nvSpPr>
          <p:cNvPr id="20" name="Text 17"/>
          <p:cNvSpPr txBox="1"/>
          <p:nvPr/>
        </p:nvSpPr>
        <p:spPr>
          <a:xfrm>
            <a:off x="6080760" y="3017520"/>
            <a:ext cx="2560320" cy="365760"/>
          </a:xfrm>
          <a:prstGeom prst="rect">
            <a:avLst/>
          </a:prstGeom>
          <a:noFill/>
          <a:ln/>
        </p:spPr>
        <p:txBody>
          <a:bodyPr wrap="square" lIns="0" tIns="0" rIns="0" bIns="0" rtlCol="0" anchor="ctr"/>
          <a:lstStyle/>
          <a:p>
            <a:pPr marL="0" indent="0">
              <a:buNone/>
            </a:pPr>
            <a:r>
              <a:rPr lang="en-US" sz="1300" dirty="0">
                <a:solidFill>
                  <a:srgbClr val="2D2D2D"/>
                </a:solidFill>
                <a:latin typeface="Arial" pitchFamily="34" charset="0"/>
                <a:ea typeface="Arial" pitchFamily="34" charset="-122"/>
                <a:cs typeface="Arial" pitchFamily="34" charset="-120"/>
              </a:rPr>
              <a:t>caption the figure output</a:t>
            </a:r>
            <a:endParaRPr lang="en-US" sz="1300" dirty="0"/>
          </a:p>
        </p:txBody>
      </p:sp>
      <p:sp>
        <p:nvSpPr>
          <p:cNvPr id="21" name="Shape 18"/>
          <p:cNvSpPr/>
          <p:nvPr/>
        </p:nvSpPr>
        <p:spPr>
          <a:xfrm>
            <a:off x="502920" y="3611880"/>
            <a:ext cx="8138160" cy="713232"/>
          </a:xfrm>
          <a:prstGeom prst="roundRect">
            <a:avLst>
              <a:gd name="adj" fmla="val 7692"/>
            </a:avLst>
          </a:prstGeom>
          <a:solidFill>
            <a:srgbClr val="FFF2CC"/>
          </a:solidFill>
          <a:ln w="12700">
            <a:solidFill>
              <a:srgbClr val="E0A800"/>
            </a:solidFill>
            <a:prstDash val="solid"/>
          </a:ln>
        </p:spPr>
      </p:sp>
      <p:sp>
        <p:nvSpPr>
          <p:cNvPr id="22" name="Text 19"/>
          <p:cNvSpPr txBox="1"/>
          <p:nvPr/>
        </p:nvSpPr>
        <p:spPr>
          <a:xfrm>
            <a:off x="640080" y="3666744"/>
            <a:ext cx="7863840" cy="603504"/>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Hiding code is not deleting it. The chunk still runs and still sits in the file — so the result stays reproducible even when the reader never sees how it was produced.</a:t>
            </a:r>
            <a:endParaRPr lang="en-US" sz="1500" dirty="0"/>
          </a:p>
        </p:txBody>
      </p:sp>
      <p:sp>
        <p:nvSpPr>
          <p:cNvPr id="23" name="Text 20"/>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Source: Quarto documentation, Using R — chunk options use #| comments inside the chunk.</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Numbers written into your sentences come from the code, so they cannot go stale</a:t>
            </a:r>
            <a:endParaRPr lang="en-US" sz="2400" dirty="0"/>
          </a:p>
        </p:txBody>
      </p:sp>
      <p:sp>
        <p:nvSpPr>
          <p:cNvPr id="4" name="Text 1"/>
          <p:cNvSpPr txBox="1"/>
          <p:nvPr/>
        </p:nvSpPr>
        <p:spPr>
          <a:xfrm>
            <a:off x="502920" y="1170432"/>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What you write</a:t>
            </a:r>
            <a:endParaRPr lang="en-US" sz="1800" dirty="0"/>
          </a:p>
        </p:txBody>
      </p:sp>
      <p:sp>
        <p:nvSpPr>
          <p:cNvPr id="5" name="Shape 2"/>
          <p:cNvSpPr/>
          <p:nvPr/>
        </p:nvSpPr>
        <p:spPr>
          <a:xfrm>
            <a:off x="502920" y="1499616"/>
            <a:ext cx="8138160" cy="502920"/>
          </a:xfrm>
          <a:prstGeom prst="roundRect">
            <a:avLst>
              <a:gd name="adj" fmla="val 9091"/>
            </a:avLst>
          </a:prstGeom>
          <a:solidFill>
            <a:srgbClr val="F1F4F8"/>
          </a:solidFill>
          <a:ln w="12700">
            <a:solidFill>
              <a:srgbClr val="D6DEE8"/>
            </a:solidFill>
            <a:prstDash val="solid"/>
          </a:ln>
        </p:spPr>
      </p:sp>
      <p:sp>
        <p:nvSpPr>
          <p:cNvPr id="6" name="Text 3"/>
          <p:cNvSpPr txBox="1"/>
          <p:nvPr/>
        </p:nvSpPr>
        <p:spPr>
          <a:xfrm>
            <a:off x="630936" y="1572768"/>
            <a:ext cx="7882128" cy="356616"/>
          </a:xfrm>
          <a:prstGeom prst="rect">
            <a:avLst/>
          </a:prstGeom>
          <a:noFill/>
          <a:ln/>
        </p:spPr>
        <p:txBody>
          <a:bodyPr wrap="square" lIns="0" tIns="0" rIns="0" bIns="0" rtlCol="0" anchor="ctr"/>
          <a:lstStyle/>
          <a:p>
            <a:pPr marL="0" indent="0">
              <a:lnSpc>
                <a:spcPct val="115000"/>
              </a:lnSpc>
              <a:buNone/>
            </a:pPr>
            <a:r>
              <a:rPr lang="en-US" sz="1250" dirty="0">
                <a:solidFill>
                  <a:srgbClr val="2D2D2D"/>
                </a:solidFill>
                <a:latin typeface="Courier New" pitchFamily="34" charset="0"/>
                <a:ea typeface="Courier New" pitchFamily="34" charset="-122"/>
                <a:cs typeface="Courier New" pitchFamily="34" charset="-120"/>
              </a:rPr>
              <a:t>Average revenue was `r round(mean(sales$revenue))` across `r nrow(sales)` stores.</a:t>
            </a:r>
            <a:endParaRPr lang="en-US" sz="1250" dirty="0"/>
          </a:p>
        </p:txBody>
      </p:sp>
      <p:sp>
        <p:nvSpPr>
          <p:cNvPr id="7" name="Text 4"/>
          <p:cNvSpPr txBox="1"/>
          <p:nvPr/>
        </p:nvSpPr>
        <p:spPr>
          <a:xfrm>
            <a:off x="502920" y="2176272"/>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What the reader sees</a:t>
            </a:r>
            <a:endParaRPr lang="en-US" sz="1800" dirty="0"/>
          </a:p>
        </p:txBody>
      </p:sp>
      <p:sp>
        <p:nvSpPr>
          <p:cNvPr id="8" name="Shape 5"/>
          <p:cNvSpPr/>
          <p:nvPr/>
        </p:nvSpPr>
        <p:spPr>
          <a:xfrm>
            <a:off x="502920" y="2505456"/>
            <a:ext cx="8138160" cy="502920"/>
          </a:xfrm>
          <a:prstGeom prst="roundRect">
            <a:avLst>
              <a:gd name="adj" fmla="val 9091"/>
            </a:avLst>
          </a:prstGeom>
          <a:solidFill>
            <a:srgbClr val="FFFFFF"/>
          </a:solidFill>
          <a:ln w="12700">
            <a:solidFill>
              <a:srgbClr val="CCCCCC"/>
            </a:solidFill>
            <a:prstDash val="solid"/>
          </a:ln>
        </p:spPr>
      </p:sp>
      <p:sp>
        <p:nvSpPr>
          <p:cNvPr id="9" name="Text 6"/>
          <p:cNvSpPr txBox="1"/>
          <p:nvPr/>
        </p:nvSpPr>
        <p:spPr>
          <a:xfrm>
            <a:off x="649224" y="2505456"/>
            <a:ext cx="7845552" cy="50292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Average revenue was 48,210 across 137 stores.</a:t>
            </a:r>
            <a:endParaRPr lang="en-US" sz="1500" dirty="0"/>
          </a:p>
        </p:txBody>
      </p:sp>
      <p:sp>
        <p:nvSpPr>
          <p:cNvPr id="10" name="Shape 7"/>
          <p:cNvSpPr/>
          <p:nvPr/>
        </p:nvSpPr>
        <p:spPr>
          <a:xfrm>
            <a:off x="502920" y="3200400"/>
            <a:ext cx="8138160" cy="777240"/>
          </a:xfrm>
          <a:prstGeom prst="roundRect">
            <a:avLst>
              <a:gd name="adj" fmla="val 7059"/>
            </a:avLst>
          </a:prstGeom>
          <a:solidFill>
            <a:srgbClr val="FFF2CC"/>
          </a:solidFill>
          <a:ln w="12700">
            <a:solidFill>
              <a:srgbClr val="E0A800"/>
            </a:solidFill>
            <a:prstDash val="solid"/>
          </a:ln>
        </p:spPr>
      </p:sp>
      <p:sp>
        <p:nvSpPr>
          <p:cNvPr id="11" name="Text 8"/>
          <p:cNvSpPr txBox="1"/>
          <p:nvPr/>
        </p:nvSpPr>
        <p:spPr>
          <a:xfrm>
            <a:off x="640080" y="3255264"/>
            <a:ext cx="7863840" cy="667512"/>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The client sends corrected data the night before the deadline. With typed numbers you hunt through the document for every figure you have to change. With inline code you render again, and the prose is already correct.</a:t>
            </a:r>
            <a:endParaRPr lang="en-US" sz="1500" dirty="0"/>
          </a:p>
        </p:txBody>
      </p:sp>
      <p:sp>
        <p:nvSpPr>
          <p:cNvPr id="12" name="Text 9"/>
          <p:cNvSpPr txBox="1"/>
          <p:nvPr/>
        </p:nvSpPr>
        <p:spPr>
          <a:xfrm>
            <a:off x="502920" y="4114800"/>
            <a:ext cx="8138160" cy="365760"/>
          </a:xfrm>
          <a:prstGeom prst="rect">
            <a:avLst/>
          </a:prstGeom>
          <a:noFill/>
          <a:ln/>
        </p:spPr>
        <p:txBody>
          <a:bodyPr wrap="square" lIns="0" tIns="0" rIns="0" bIns="0" rtlCol="0" anchor="ctr"/>
          <a:lstStyle/>
          <a:p>
            <a:pPr marL="0" indent="0">
              <a:buNone/>
            </a:pPr>
            <a:r>
              <a:rPr lang="en-US" sz="1500" dirty="0">
                <a:solidFill>
                  <a:srgbClr val="2D2D2D"/>
                </a:solidFill>
                <a:latin typeface="Arial" pitchFamily="34" charset="0"/>
                <a:ea typeface="Arial" pitchFamily="34" charset="-122"/>
                <a:cs typeface="Arial" pitchFamily="34" charset="-120"/>
              </a:rPr>
              <a:t>This is what removes the hand-copying from the diagram at the start of the lecture.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One source file renders to every format you are likely to be asked for</a:t>
            </a:r>
            <a:endParaRPr lang="en-US" sz="2400" dirty="0"/>
          </a:p>
        </p:txBody>
      </p:sp>
      <p:sp>
        <p:nvSpPr>
          <p:cNvPr id="4" name="Shape 1"/>
          <p:cNvSpPr/>
          <p:nvPr/>
        </p:nvSpPr>
        <p:spPr>
          <a:xfrm>
            <a:off x="502920" y="1920240"/>
            <a:ext cx="2148840" cy="1051560"/>
          </a:xfrm>
          <a:prstGeom prst="roundRect">
            <a:avLst>
              <a:gd name="adj" fmla="val 6957"/>
            </a:avLst>
          </a:prstGeom>
          <a:solidFill>
            <a:srgbClr val="1F4E79"/>
          </a:solidFill>
          <a:ln w="12700">
            <a:solidFill>
              <a:srgbClr val="1F4E79"/>
            </a:solidFill>
            <a:prstDash val="solid"/>
          </a:ln>
        </p:spPr>
      </p:sp>
      <p:sp>
        <p:nvSpPr>
          <p:cNvPr id="5" name="Text 2"/>
          <p:cNvSpPr txBox="1"/>
          <p:nvPr/>
        </p:nvSpPr>
        <p:spPr>
          <a:xfrm>
            <a:off x="502920" y="2048256"/>
            <a:ext cx="21488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report.qmd</a:t>
            </a:r>
            <a:endParaRPr lang="en-US" sz="1500" dirty="0"/>
          </a:p>
        </p:txBody>
      </p:sp>
      <p:sp>
        <p:nvSpPr>
          <p:cNvPr id="6" name="Text 3"/>
          <p:cNvSpPr txBox="1"/>
          <p:nvPr/>
        </p:nvSpPr>
        <p:spPr>
          <a:xfrm>
            <a:off x="502920" y="2432304"/>
            <a:ext cx="2148840" cy="292608"/>
          </a:xfrm>
          <a:prstGeom prst="rect">
            <a:avLst/>
          </a:prstGeom>
          <a:noFill/>
          <a:ln/>
        </p:spPr>
        <p:txBody>
          <a:bodyPr wrap="square" lIns="0" tIns="0" rIns="0" bIns="0" rtlCol="0" anchor="ctr"/>
          <a:lstStyle/>
          <a:p>
            <a:pPr marL="0" indent="0" algn="ctr">
              <a:buNone/>
            </a:pPr>
            <a:r>
              <a:rPr lang="en-US" sz="1300" dirty="0">
                <a:solidFill>
                  <a:srgbClr val="CADCFC"/>
                </a:solidFill>
                <a:latin typeface="Arial" pitchFamily="34" charset="0"/>
                <a:ea typeface="Arial" pitchFamily="34" charset="-122"/>
                <a:cs typeface="Arial" pitchFamily="34" charset="-120"/>
              </a:rPr>
              <a:t>written once</a:t>
            </a:r>
            <a:endParaRPr lang="en-US" sz="1300" dirty="0"/>
          </a:p>
        </p:txBody>
      </p:sp>
      <p:sp>
        <p:nvSpPr>
          <p:cNvPr id="7" name="Shape 4"/>
          <p:cNvSpPr/>
          <p:nvPr/>
        </p:nvSpPr>
        <p:spPr>
          <a:xfrm>
            <a:off x="2834640" y="2331720"/>
            <a:ext cx="502920" cy="237744"/>
          </a:xfrm>
          <a:prstGeom prst="rightArrow">
            <a:avLst/>
          </a:prstGeom>
          <a:solidFill>
            <a:srgbClr val="2E75B6"/>
          </a:solidFill>
          <a:ln w="12700">
            <a:solidFill>
              <a:srgbClr val="2E75B6"/>
            </a:solidFill>
            <a:prstDash val="solid"/>
          </a:ln>
        </p:spPr>
      </p:sp>
      <p:sp>
        <p:nvSpPr>
          <p:cNvPr id="8" name="Shape 5"/>
          <p:cNvSpPr/>
          <p:nvPr/>
        </p:nvSpPr>
        <p:spPr>
          <a:xfrm>
            <a:off x="3611880" y="1371600"/>
            <a:ext cx="2377440" cy="621792"/>
          </a:xfrm>
          <a:prstGeom prst="roundRect">
            <a:avLst>
              <a:gd name="adj" fmla="val 8824"/>
            </a:avLst>
          </a:prstGeom>
          <a:solidFill>
            <a:srgbClr val="EBF3FA"/>
          </a:solidFill>
          <a:ln w="12700">
            <a:solidFill>
              <a:srgbClr val="2E75B6"/>
            </a:solidFill>
            <a:prstDash val="solid"/>
          </a:ln>
        </p:spPr>
      </p:sp>
      <p:sp>
        <p:nvSpPr>
          <p:cNvPr id="9" name="Text 6"/>
          <p:cNvSpPr txBox="1"/>
          <p:nvPr/>
        </p:nvSpPr>
        <p:spPr>
          <a:xfrm>
            <a:off x="3739896" y="1417320"/>
            <a:ext cx="2121408" cy="274320"/>
          </a:xfrm>
          <a:prstGeom prst="rect">
            <a:avLst/>
          </a:prstGeom>
          <a:noFill/>
          <a:ln/>
        </p:spPr>
        <p:txBody>
          <a:bodyPr wrap="square" lIns="0" tIns="0" rIns="0" bIns="0" rtlCol="0" anchor="ctr"/>
          <a:lstStyle/>
          <a:p>
            <a:pPr marL="0" indent="0">
              <a:buNone/>
            </a:pPr>
            <a:r>
              <a:rPr lang="en-US" sz="1400" b="1" dirty="0">
                <a:solidFill>
                  <a:srgbClr val="1F4E79"/>
                </a:solidFill>
                <a:latin typeface="Arial" pitchFamily="34" charset="0"/>
                <a:ea typeface="Arial" pitchFamily="34" charset="-122"/>
                <a:cs typeface="Arial" pitchFamily="34" charset="-120"/>
              </a:rPr>
              <a:t>HTML page</a:t>
            </a:r>
            <a:endParaRPr lang="en-US" sz="1400" dirty="0"/>
          </a:p>
        </p:txBody>
      </p:sp>
      <p:sp>
        <p:nvSpPr>
          <p:cNvPr id="10" name="Text 7"/>
          <p:cNvSpPr txBox="1"/>
          <p:nvPr/>
        </p:nvSpPr>
        <p:spPr>
          <a:xfrm>
            <a:off x="3739896" y="1673352"/>
            <a:ext cx="2121408" cy="274320"/>
          </a:xfrm>
          <a:prstGeom prst="rect">
            <a:avLst/>
          </a:prstGeom>
          <a:noFill/>
          <a:ln/>
        </p:spPr>
        <p:txBody>
          <a:bodyPr wrap="square" lIns="0" tIns="0" rIns="0" bIns="0" rtlCol="0" anchor="ctr"/>
          <a:lstStyle/>
          <a:p>
            <a:pPr marL="0" indent="0">
              <a:buNone/>
            </a:pPr>
            <a:r>
              <a:rPr lang="en-US" sz="1150" dirty="0">
                <a:solidFill>
                  <a:srgbClr val="2D2D2D"/>
                </a:solidFill>
                <a:latin typeface="Arial" pitchFamily="34" charset="0"/>
                <a:ea typeface="Arial" pitchFamily="34" charset="-122"/>
                <a:cs typeface="Arial" pitchFamily="34" charset="-120"/>
              </a:rPr>
              <a:t>for sharing a link</a:t>
            </a:r>
            <a:endParaRPr lang="en-US" sz="1150" dirty="0"/>
          </a:p>
        </p:txBody>
      </p:sp>
      <p:sp>
        <p:nvSpPr>
          <p:cNvPr id="11" name="Shape 8"/>
          <p:cNvSpPr/>
          <p:nvPr/>
        </p:nvSpPr>
        <p:spPr>
          <a:xfrm>
            <a:off x="6153912" y="1371600"/>
            <a:ext cx="2377440" cy="621792"/>
          </a:xfrm>
          <a:prstGeom prst="roundRect">
            <a:avLst>
              <a:gd name="adj" fmla="val 8824"/>
            </a:avLst>
          </a:prstGeom>
          <a:solidFill>
            <a:srgbClr val="EBF3FA"/>
          </a:solidFill>
          <a:ln w="12700">
            <a:solidFill>
              <a:srgbClr val="2E75B6"/>
            </a:solidFill>
            <a:prstDash val="solid"/>
          </a:ln>
        </p:spPr>
      </p:sp>
      <p:sp>
        <p:nvSpPr>
          <p:cNvPr id="12" name="Text 9"/>
          <p:cNvSpPr txBox="1"/>
          <p:nvPr/>
        </p:nvSpPr>
        <p:spPr>
          <a:xfrm>
            <a:off x="6281928" y="1417320"/>
            <a:ext cx="2121408" cy="274320"/>
          </a:xfrm>
          <a:prstGeom prst="rect">
            <a:avLst/>
          </a:prstGeom>
          <a:noFill/>
          <a:ln/>
        </p:spPr>
        <p:txBody>
          <a:bodyPr wrap="square" lIns="0" tIns="0" rIns="0" bIns="0" rtlCol="0" anchor="ctr"/>
          <a:lstStyle/>
          <a:p>
            <a:pPr marL="0" indent="0">
              <a:buNone/>
            </a:pPr>
            <a:r>
              <a:rPr lang="en-US" sz="1400" b="1" dirty="0">
                <a:solidFill>
                  <a:srgbClr val="1F4E79"/>
                </a:solidFill>
                <a:latin typeface="Arial" pitchFamily="34" charset="0"/>
                <a:ea typeface="Arial" pitchFamily="34" charset="-122"/>
                <a:cs typeface="Arial" pitchFamily="34" charset="-120"/>
              </a:rPr>
              <a:t>PDF</a:t>
            </a:r>
            <a:endParaRPr lang="en-US" sz="1400" dirty="0"/>
          </a:p>
        </p:txBody>
      </p:sp>
      <p:sp>
        <p:nvSpPr>
          <p:cNvPr id="13" name="Text 10"/>
          <p:cNvSpPr txBox="1"/>
          <p:nvPr/>
        </p:nvSpPr>
        <p:spPr>
          <a:xfrm>
            <a:off x="6281928" y="1673352"/>
            <a:ext cx="2121408" cy="274320"/>
          </a:xfrm>
          <a:prstGeom prst="rect">
            <a:avLst/>
          </a:prstGeom>
          <a:noFill/>
          <a:ln/>
        </p:spPr>
        <p:txBody>
          <a:bodyPr wrap="square" lIns="0" tIns="0" rIns="0" bIns="0" rtlCol="0" anchor="ctr"/>
          <a:lstStyle/>
          <a:p>
            <a:pPr marL="0" indent="0">
              <a:buNone/>
            </a:pPr>
            <a:r>
              <a:rPr lang="en-US" sz="1150" dirty="0">
                <a:solidFill>
                  <a:srgbClr val="2D2D2D"/>
                </a:solidFill>
                <a:latin typeface="Arial" pitchFamily="34" charset="0"/>
                <a:ea typeface="Arial" pitchFamily="34" charset="-122"/>
                <a:cs typeface="Arial" pitchFamily="34" charset="-120"/>
              </a:rPr>
              <a:t>for a formal deliverable</a:t>
            </a:r>
            <a:endParaRPr lang="en-US" sz="1150" dirty="0"/>
          </a:p>
        </p:txBody>
      </p:sp>
      <p:sp>
        <p:nvSpPr>
          <p:cNvPr id="14" name="Shape 11"/>
          <p:cNvSpPr/>
          <p:nvPr/>
        </p:nvSpPr>
        <p:spPr>
          <a:xfrm>
            <a:off x="3611880" y="2148840"/>
            <a:ext cx="2377440" cy="621792"/>
          </a:xfrm>
          <a:prstGeom prst="roundRect">
            <a:avLst>
              <a:gd name="adj" fmla="val 8824"/>
            </a:avLst>
          </a:prstGeom>
          <a:solidFill>
            <a:srgbClr val="EBF3FA"/>
          </a:solidFill>
          <a:ln w="12700">
            <a:solidFill>
              <a:srgbClr val="2E75B6"/>
            </a:solidFill>
            <a:prstDash val="solid"/>
          </a:ln>
        </p:spPr>
      </p:sp>
      <p:sp>
        <p:nvSpPr>
          <p:cNvPr id="15" name="Text 12"/>
          <p:cNvSpPr txBox="1"/>
          <p:nvPr/>
        </p:nvSpPr>
        <p:spPr>
          <a:xfrm>
            <a:off x="3739896" y="2194560"/>
            <a:ext cx="2121408" cy="274320"/>
          </a:xfrm>
          <a:prstGeom prst="rect">
            <a:avLst/>
          </a:prstGeom>
          <a:noFill/>
          <a:ln/>
        </p:spPr>
        <p:txBody>
          <a:bodyPr wrap="square" lIns="0" tIns="0" rIns="0" bIns="0" rtlCol="0" anchor="ctr"/>
          <a:lstStyle/>
          <a:p>
            <a:pPr marL="0" indent="0">
              <a:buNone/>
            </a:pPr>
            <a:r>
              <a:rPr lang="en-US" sz="1400" b="1" dirty="0">
                <a:solidFill>
                  <a:srgbClr val="1F4E79"/>
                </a:solidFill>
                <a:latin typeface="Arial" pitchFamily="34" charset="0"/>
                <a:ea typeface="Arial" pitchFamily="34" charset="-122"/>
                <a:cs typeface="Arial" pitchFamily="34" charset="-120"/>
              </a:rPr>
              <a:t>Word .docx</a:t>
            </a:r>
            <a:endParaRPr lang="en-US" sz="1400" dirty="0"/>
          </a:p>
        </p:txBody>
      </p:sp>
      <p:sp>
        <p:nvSpPr>
          <p:cNvPr id="16" name="Text 13"/>
          <p:cNvSpPr txBox="1"/>
          <p:nvPr/>
        </p:nvSpPr>
        <p:spPr>
          <a:xfrm>
            <a:off x="3739896" y="2450592"/>
            <a:ext cx="2121408" cy="274320"/>
          </a:xfrm>
          <a:prstGeom prst="rect">
            <a:avLst/>
          </a:prstGeom>
          <a:noFill/>
          <a:ln/>
        </p:spPr>
        <p:txBody>
          <a:bodyPr wrap="square" lIns="0" tIns="0" rIns="0" bIns="0" rtlCol="0" anchor="ctr"/>
          <a:lstStyle/>
          <a:p>
            <a:pPr marL="0" indent="0">
              <a:buNone/>
            </a:pPr>
            <a:r>
              <a:rPr lang="en-US" sz="1150" dirty="0">
                <a:solidFill>
                  <a:srgbClr val="2D2D2D"/>
                </a:solidFill>
                <a:latin typeface="Arial" pitchFamily="34" charset="0"/>
                <a:ea typeface="Arial" pitchFamily="34" charset="-122"/>
                <a:cs typeface="Arial" pitchFamily="34" charset="-120"/>
              </a:rPr>
              <a:t>for tracked changes</a:t>
            </a:r>
            <a:endParaRPr lang="en-US" sz="1150" dirty="0"/>
          </a:p>
        </p:txBody>
      </p:sp>
      <p:sp>
        <p:nvSpPr>
          <p:cNvPr id="17" name="Shape 14"/>
          <p:cNvSpPr/>
          <p:nvPr/>
        </p:nvSpPr>
        <p:spPr>
          <a:xfrm>
            <a:off x="6153912" y="2148840"/>
            <a:ext cx="2377440" cy="621792"/>
          </a:xfrm>
          <a:prstGeom prst="roundRect">
            <a:avLst>
              <a:gd name="adj" fmla="val 8824"/>
            </a:avLst>
          </a:prstGeom>
          <a:solidFill>
            <a:srgbClr val="EBF3FA"/>
          </a:solidFill>
          <a:ln w="12700">
            <a:solidFill>
              <a:srgbClr val="2E75B6"/>
            </a:solidFill>
            <a:prstDash val="solid"/>
          </a:ln>
        </p:spPr>
      </p:sp>
      <p:sp>
        <p:nvSpPr>
          <p:cNvPr id="18" name="Text 15"/>
          <p:cNvSpPr txBox="1"/>
          <p:nvPr/>
        </p:nvSpPr>
        <p:spPr>
          <a:xfrm>
            <a:off x="6281928" y="2194560"/>
            <a:ext cx="2121408" cy="274320"/>
          </a:xfrm>
          <a:prstGeom prst="rect">
            <a:avLst/>
          </a:prstGeom>
          <a:noFill/>
          <a:ln/>
        </p:spPr>
        <p:txBody>
          <a:bodyPr wrap="square" lIns="0" tIns="0" rIns="0" bIns="0" rtlCol="0" anchor="ctr"/>
          <a:lstStyle/>
          <a:p>
            <a:pPr marL="0" indent="0">
              <a:buNone/>
            </a:pPr>
            <a:r>
              <a:rPr lang="en-US" sz="1400" b="1" dirty="0">
                <a:solidFill>
                  <a:srgbClr val="1F4E79"/>
                </a:solidFill>
                <a:latin typeface="Arial" pitchFamily="34" charset="0"/>
                <a:ea typeface="Arial" pitchFamily="34" charset="-122"/>
                <a:cs typeface="Arial" pitchFamily="34" charset="-120"/>
              </a:rPr>
              <a:t>Slides</a:t>
            </a:r>
            <a:endParaRPr lang="en-US" sz="1400" dirty="0"/>
          </a:p>
        </p:txBody>
      </p:sp>
      <p:sp>
        <p:nvSpPr>
          <p:cNvPr id="19" name="Text 16"/>
          <p:cNvSpPr txBox="1"/>
          <p:nvPr/>
        </p:nvSpPr>
        <p:spPr>
          <a:xfrm>
            <a:off x="6281928" y="2450592"/>
            <a:ext cx="2121408" cy="274320"/>
          </a:xfrm>
          <a:prstGeom prst="rect">
            <a:avLst/>
          </a:prstGeom>
          <a:noFill/>
          <a:ln/>
        </p:spPr>
        <p:txBody>
          <a:bodyPr wrap="square" lIns="0" tIns="0" rIns="0" bIns="0" rtlCol="0" anchor="ctr"/>
          <a:lstStyle/>
          <a:p>
            <a:pPr marL="0" indent="0">
              <a:buNone/>
            </a:pPr>
            <a:r>
              <a:rPr lang="en-US" sz="1150" dirty="0">
                <a:solidFill>
                  <a:srgbClr val="2D2D2D"/>
                </a:solidFill>
                <a:latin typeface="Arial" pitchFamily="34" charset="0"/>
                <a:ea typeface="Arial" pitchFamily="34" charset="-122"/>
                <a:cs typeface="Arial" pitchFamily="34" charset="-120"/>
              </a:rPr>
              <a:t>revealjs or PowerPoint</a:t>
            </a:r>
            <a:endParaRPr lang="en-US" sz="1150" dirty="0"/>
          </a:p>
        </p:txBody>
      </p:sp>
      <p:sp>
        <p:nvSpPr>
          <p:cNvPr id="20" name="Shape 17"/>
          <p:cNvSpPr/>
          <p:nvPr/>
        </p:nvSpPr>
        <p:spPr>
          <a:xfrm>
            <a:off x="3611880" y="2926080"/>
            <a:ext cx="2377440" cy="621792"/>
          </a:xfrm>
          <a:prstGeom prst="roundRect">
            <a:avLst>
              <a:gd name="adj" fmla="val 8824"/>
            </a:avLst>
          </a:prstGeom>
          <a:solidFill>
            <a:srgbClr val="EBF3FA"/>
          </a:solidFill>
          <a:ln w="12700">
            <a:solidFill>
              <a:srgbClr val="2E75B6"/>
            </a:solidFill>
            <a:prstDash val="solid"/>
          </a:ln>
        </p:spPr>
      </p:sp>
      <p:sp>
        <p:nvSpPr>
          <p:cNvPr id="21" name="Text 18"/>
          <p:cNvSpPr txBox="1"/>
          <p:nvPr/>
        </p:nvSpPr>
        <p:spPr>
          <a:xfrm>
            <a:off x="3739896" y="2971800"/>
            <a:ext cx="2121408" cy="274320"/>
          </a:xfrm>
          <a:prstGeom prst="rect">
            <a:avLst/>
          </a:prstGeom>
          <a:noFill/>
          <a:ln/>
        </p:spPr>
        <p:txBody>
          <a:bodyPr wrap="square" lIns="0" tIns="0" rIns="0" bIns="0" rtlCol="0" anchor="ctr"/>
          <a:lstStyle/>
          <a:p>
            <a:pPr marL="0" indent="0">
              <a:buNone/>
            </a:pPr>
            <a:r>
              <a:rPr lang="en-US" sz="1400" b="1" dirty="0">
                <a:solidFill>
                  <a:srgbClr val="1F4E79"/>
                </a:solidFill>
                <a:latin typeface="Arial" pitchFamily="34" charset="0"/>
                <a:ea typeface="Arial" pitchFamily="34" charset="-122"/>
                <a:cs typeface="Arial" pitchFamily="34" charset="-120"/>
              </a:rPr>
              <a:t>Dashboard</a:t>
            </a:r>
            <a:endParaRPr lang="en-US" sz="1400" dirty="0"/>
          </a:p>
        </p:txBody>
      </p:sp>
      <p:sp>
        <p:nvSpPr>
          <p:cNvPr id="22" name="Text 19"/>
          <p:cNvSpPr txBox="1"/>
          <p:nvPr/>
        </p:nvSpPr>
        <p:spPr>
          <a:xfrm>
            <a:off x="3739896" y="3227832"/>
            <a:ext cx="2121408" cy="274320"/>
          </a:xfrm>
          <a:prstGeom prst="rect">
            <a:avLst/>
          </a:prstGeom>
          <a:noFill/>
          <a:ln/>
        </p:spPr>
        <p:txBody>
          <a:bodyPr wrap="square" lIns="0" tIns="0" rIns="0" bIns="0" rtlCol="0" anchor="ctr"/>
          <a:lstStyle/>
          <a:p>
            <a:pPr marL="0" indent="0">
              <a:buNone/>
            </a:pPr>
            <a:r>
              <a:rPr lang="en-US" sz="1150" dirty="0">
                <a:solidFill>
                  <a:srgbClr val="2D2D2D"/>
                </a:solidFill>
                <a:latin typeface="Arial" pitchFamily="34" charset="0"/>
                <a:ea typeface="Arial" pitchFamily="34" charset="-122"/>
                <a:cs typeface="Arial" pitchFamily="34" charset="-120"/>
              </a:rPr>
              <a:t>for live monitoring</a:t>
            </a:r>
            <a:endParaRPr lang="en-US" sz="1150" dirty="0"/>
          </a:p>
        </p:txBody>
      </p:sp>
      <p:sp>
        <p:nvSpPr>
          <p:cNvPr id="23" name="Shape 20"/>
          <p:cNvSpPr/>
          <p:nvPr/>
        </p:nvSpPr>
        <p:spPr>
          <a:xfrm>
            <a:off x="6153912" y="2926080"/>
            <a:ext cx="2377440" cy="621792"/>
          </a:xfrm>
          <a:prstGeom prst="roundRect">
            <a:avLst>
              <a:gd name="adj" fmla="val 8824"/>
            </a:avLst>
          </a:prstGeom>
          <a:solidFill>
            <a:srgbClr val="EBF3FA"/>
          </a:solidFill>
          <a:ln w="12700">
            <a:solidFill>
              <a:srgbClr val="2E75B6"/>
            </a:solidFill>
            <a:prstDash val="solid"/>
          </a:ln>
        </p:spPr>
      </p:sp>
      <p:sp>
        <p:nvSpPr>
          <p:cNvPr id="24" name="Text 21"/>
          <p:cNvSpPr txBox="1"/>
          <p:nvPr/>
        </p:nvSpPr>
        <p:spPr>
          <a:xfrm>
            <a:off x="6281928" y="2971800"/>
            <a:ext cx="2121408" cy="274320"/>
          </a:xfrm>
          <a:prstGeom prst="rect">
            <a:avLst/>
          </a:prstGeom>
          <a:noFill/>
          <a:ln/>
        </p:spPr>
        <p:txBody>
          <a:bodyPr wrap="square" lIns="0" tIns="0" rIns="0" bIns="0" rtlCol="0" anchor="ctr"/>
          <a:lstStyle/>
          <a:p>
            <a:pPr marL="0" indent="0">
              <a:buNone/>
            </a:pPr>
            <a:r>
              <a:rPr lang="en-US" sz="1400" b="1" dirty="0">
                <a:solidFill>
                  <a:srgbClr val="1F4E79"/>
                </a:solidFill>
                <a:latin typeface="Arial" pitchFamily="34" charset="0"/>
                <a:ea typeface="Arial" pitchFamily="34" charset="-122"/>
                <a:cs typeface="Arial" pitchFamily="34" charset="-120"/>
              </a:rPr>
              <a:t>Website or book</a:t>
            </a:r>
            <a:endParaRPr lang="en-US" sz="1400" dirty="0"/>
          </a:p>
        </p:txBody>
      </p:sp>
      <p:sp>
        <p:nvSpPr>
          <p:cNvPr id="25" name="Text 22"/>
          <p:cNvSpPr txBox="1"/>
          <p:nvPr/>
        </p:nvSpPr>
        <p:spPr>
          <a:xfrm>
            <a:off x="6281928" y="3227832"/>
            <a:ext cx="2121408" cy="274320"/>
          </a:xfrm>
          <a:prstGeom prst="rect">
            <a:avLst/>
          </a:prstGeom>
          <a:noFill/>
          <a:ln/>
        </p:spPr>
        <p:txBody>
          <a:bodyPr wrap="square" lIns="0" tIns="0" rIns="0" bIns="0" rtlCol="0" anchor="ctr"/>
          <a:lstStyle/>
          <a:p>
            <a:pPr marL="0" indent="0">
              <a:buNone/>
            </a:pPr>
            <a:r>
              <a:rPr lang="en-US" sz="1150" dirty="0">
                <a:solidFill>
                  <a:srgbClr val="2D2D2D"/>
                </a:solidFill>
                <a:latin typeface="Arial" pitchFamily="34" charset="0"/>
                <a:ea typeface="Arial" pitchFamily="34" charset="-122"/>
                <a:cs typeface="Arial" pitchFamily="34" charset="-120"/>
              </a:rPr>
              <a:t>for a whole project</a:t>
            </a:r>
            <a:endParaRPr lang="en-US" sz="1150" dirty="0"/>
          </a:p>
        </p:txBody>
      </p:sp>
      <p:sp>
        <p:nvSpPr>
          <p:cNvPr id="26" name="Shape 23"/>
          <p:cNvSpPr/>
          <p:nvPr/>
        </p:nvSpPr>
        <p:spPr>
          <a:xfrm>
            <a:off x="502920" y="3858768"/>
            <a:ext cx="8138160" cy="566928"/>
          </a:xfrm>
          <a:prstGeom prst="roundRect">
            <a:avLst>
              <a:gd name="adj" fmla="val 9677"/>
            </a:avLst>
          </a:prstGeom>
          <a:solidFill>
            <a:srgbClr val="FFF2CC"/>
          </a:solidFill>
          <a:ln w="12700">
            <a:solidFill>
              <a:srgbClr val="E0A800"/>
            </a:solidFill>
            <a:prstDash val="solid"/>
          </a:ln>
        </p:spPr>
      </p:sp>
      <p:sp>
        <p:nvSpPr>
          <p:cNvPr id="27" name="Text 24"/>
          <p:cNvSpPr txBox="1"/>
          <p:nvPr/>
        </p:nvSpPr>
        <p:spPr>
          <a:xfrm>
            <a:off x="640080" y="3913632"/>
            <a:ext cx="7863840" cy="457200"/>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Your supervisor wants Word, the client wants PDF, the team wants a link, and you need slides. Same file, four renders.</a:t>
            </a:r>
            <a:endParaRPr lang="en-US" sz="1500" dirty="0"/>
          </a:p>
        </p:txBody>
      </p:sp>
      <p:sp>
        <p:nvSpPr>
          <p:cNvPr id="28" name="Text 25"/>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Source: Quarto documentation, output formats (quarto.org/docs/output-formats).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Switching output format is one line in the header</a:t>
            </a:r>
            <a:endParaRPr lang="en-US" sz="2400" dirty="0"/>
          </a:p>
        </p:txBody>
      </p:sp>
      <p:sp>
        <p:nvSpPr>
          <p:cNvPr id="4" name="Text 1"/>
          <p:cNvSpPr txBox="1"/>
          <p:nvPr/>
        </p:nvSpPr>
        <p:spPr>
          <a:xfrm>
            <a:off x="50292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One format at a time</a:t>
            </a:r>
            <a:endParaRPr lang="en-US" sz="1800" dirty="0"/>
          </a:p>
        </p:txBody>
      </p:sp>
      <p:sp>
        <p:nvSpPr>
          <p:cNvPr id="5" name="Shape 2"/>
          <p:cNvSpPr/>
          <p:nvPr/>
        </p:nvSpPr>
        <p:spPr>
          <a:xfrm>
            <a:off x="502920" y="1499616"/>
            <a:ext cx="3931920" cy="1371600"/>
          </a:xfrm>
          <a:prstGeom prst="roundRect">
            <a:avLst>
              <a:gd name="adj" fmla="val 3333"/>
            </a:avLst>
          </a:prstGeom>
          <a:solidFill>
            <a:srgbClr val="F1F4F8"/>
          </a:solidFill>
          <a:ln w="12700">
            <a:solidFill>
              <a:srgbClr val="D6DEE8"/>
            </a:solidFill>
            <a:prstDash val="solid"/>
          </a:ln>
        </p:spPr>
      </p:sp>
      <p:sp>
        <p:nvSpPr>
          <p:cNvPr id="6" name="Text 3"/>
          <p:cNvSpPr txBox="1"/>
          <p:nvPr/>
        </p:nvSpPr>
        <p:spPr>
          <a:xfrm>
            <a:off x="630936" y="1572768"/>
            <a:ext cx="3675888" cy="1225296"/>
          </a:xfrm>
          <a:prstGeom prst="rect">
            <a:avLst/>
          </a:prstGeom>
          <a:noFill/>
          <a:ln/>
        </p:spPr>
        <p:txBody>
          <a:bodyPr wrap="square" lIns="0" tIns="0" rIns="0" bIns="0" rtlCol="0" anchor="ctr"/>
          <a:lstStyle/>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format: html</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format: pdf</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format: docx</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format: revealjs</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format: pptx</a:t>
            </a:r>
            <a:endParaRPr lang="en-US" sz="1200" dirty="0"/>
          </a:p>
        </p:txBody>
      </p:sp>
      <p:sp>
        <p:nvSpPr>
          <p:cNvPr id="7" name="Text 4"/>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Or several at once</a:t>
            </a:r>
            <a:endParaRPr lang="en-US" sz="1800" dirty="0"/>
          </a:p>
        </p:txBody>
      </p:sp>
      <p:sp>
        <p:nvSpPr>
          <p:cNvPr id="8" name="Shape 5"/>
          <p:cNvSpPr/>
          <p:nvPr/>
        </p:nvSpPr>
        <p:spPr>
          <a:xfrm>
            <a:off x="4709160" y="1499616"/>
            <a:ext cx="3931920" cy="1371600"/>
          </a:xfrm>
          <a:prstGeom prst="roundRect">
            <a:avLst>
              <a:gd name="adj" fmla="val 3333"/>
            </a:avLst>
          </a:prstGeom>
          <a:solidFill>
            <a:srgbClr val="F1F4F8"/>
          </a:solidFill>
          <a:ln w="12700">
            <a:solidFill>
              <a:srgbClr val="D6DEE8"/>
            </a:solidFill>
            <a:prstDash val="solid"/>
          </a:ln>
        </p:spPr>
      </p:sp>
      <p:sp>
        <p:nvSpPr>
          <p:cNvPr id="9" name="Text 6"/>
          <p:cNvSpPr txBox="1"/>
          <p:nvPr/>
        </p:nvSpPr>
        <p:spPr>
          <a:xfrm>
            <a:off x="4837176" y="1572768"/>
            <a:ext cx="3675888" cy="1225296"/>
          </a:xfrm>
          <a:prstGeom prst="rect">
            <a:avLst/>
          </a:prstGeom>
          <a:noFill/>
          <a:ln/>
        </p:spPr>
        <p:txBody>
          <a:bodyPr wrap="square" lIns="0" tIns="0" rIns="0" bIns="0" rtlCol="0" anchor="ctr"/>
          <a:lstStyle/>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format:</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html: default</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pdf: default</a:t>
            </a:r>
            <a:endParaRPr lang="en-US" sz="1200" dirty="0"/>
          </a:p>
          <a:p>
            <a:pPr marL="0" indent="0">
              <a:lnSpc>
                <a:spcPct val="115000"/>
              </a:lnSpc>
              <a:buNone/>
            </a:pPr>
            <a:r>
              <a:rPr lang="en-US" sz="1200" dirty="0">
                <a:solidFill>
                  <a:srgbClr val="2D2D2D"/>
                </a:solidFill>
                <a:latin typeface="Courier New" pitchFamily="34" charset="0"/>
                <a:ea typeface="Courier New" pitchFamily="34" charset="-122"/>
                <a:cs typeface="Courier New" pitchFamily="34" charset="-120"/>
              </a:rPr>
              <a:t>  docx: default</a:t>
            </a:r>
            <a:endParaRPr lang="en-US" sz="1200" dirty="0"/>
          </a:p>
        </p:txBody>
      </p:sp>
      <p:sp>
        <p:nvSpPr>
          <p:cNvPr id="10" name="Text 7"/>
          <p:cNvSpPr txBox="1"/>
          <p:nvPr/>
        </p:nvSpPr>
        <p:spPr>
          <a:xfrm>
            <a:off x="502920" y="2999232"/>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From the terminal</a:t>
            </a:r>
            <a:endParaRPr lang="en-US" sz="1800" dirty="0"/>
          </a:p>
        </p:txBody>
      </p:sp>
      <p:sp>
        <p:nvSpPr>
          <p:cNvPr id="11" name="Shape 8"/>
          <p:cNvSpPr/>
          <p:nvPr/>
        </p:nvSpPr>
        <p:spPr>
          <a:xfrm>
            <a:off x="502920" y="3328416"/>
            <a:ext cx="8138160" cy="658368"/>
          </a:xfrm>
          <a:prstGeom prst="roundRect">
            <a:avLst>
              <a:gd name="adj" fmla="val 6944"/>
            </a:avLst>
          </a:prstGeom>
          <a:solidFill>
            <a:srgbClr val="F1F4F8"/>
          </a:solidFill>
          <a:ln w="12700">
            <a:solidFill>
              <a:srgbClr val="D6DEE8"/>
            </a:solidFill>
            <a:prstDash val="solid"/>
          </a:ln>
        </p:spPr>
      </p:sp>
      <p:sp>
        <p:nvSpPr>
          <p:cNvPr id="12" name="Text 9"/>
          <p:cNvSpPr txBox="1"/>
          <p:nvPr/>
        </p:nvSpPr>
        <p:spPr>
          <a:xfrm>
            <a:off x="630936" y="3401568"/>
            <a:ext cx="7882128" cy="512064"/>
          </a:xfrm>
          <a:prstGeom prst="rect">
            <a:avLst/>
          </a:prstGeom>
          <a:noFill/>
          <a:ln/>
        </p:spPr>
        <p:txBody>
          <a:bodyPr wrap="square" lIns="0" tIns="0" rIns="0" bIns="0" rtlCol="0" anchor="ctr"/>
          <a:lstStyle/>
          <a:p>
            <a:pPr marL="0" indent="0">
              <a:lnSpc>
                <a:spcPct val="115000"/>
              </a:lnSpc>
              <a:buNone/>
            </a:pPr>
            <a:r>
              <a:rPr lang="en-US" sz="1250" dirty="0">
                <a:solidFill>
                  <a:srgbClr val="2D2D2D"/>
                </a:solidFill>
                <a:latin typeface="Courier New" pitchFamily="34" charset="0"/>
                <a:ea typeface="Courier New" pitchFamily="34" charset="-122"/>
                <a:cs typeface="Courier New" pitchFamily="34" charset="-120"/>
              </a:rPr>
              <a:t>quarto render report.qmd</a:t>
            </a:r>
            <a:endParaRPr lang="en-US" sz="1250" dirty="0"/>
          </a:p>
          <a:p>
            <a:pPr marL="0" indent="0">
              <a:lnSpc>
                <a:spcPct val="115000"/>
              </a:lnSpc>
              <a:buNone/>
            </a:pPr>
            <a:r>
              <a:rPr lang="en-US" sz="1250" dirty="0">
                <a:solidFill>
                  <a:srgbClr val="2D2D2D"/>
                </a:solidFill>
                <a:latin typeface="Courier New" pitchFamily="34" charset="0"/>
                <a:ea typeface="Courier New" pitchFamily="34" charset="-122"/>
                <a:cs typeface="Courier New" pitchFamily="34" charset="-120"/>
              </a:rPr>
              <a:t>quarto render report.qmd --to docx</a:t>
            </a:r>
            <a:endParaRPr lang="en-US" sz="1250" dirty="0"/>
          </a:p>
        </p:txBody>
      </p:sp>
      <p:sp>
        <p:nvSpPr>
          <p:cNvPr id="13" name="Shape 10"/>
          <p:cNvSpPr/>
          <p:nvPr/>
        </p:nvSpPr>
        <p:spPr>
          <a:xfrm>
            <a:off x="502920" y="4114800"/>
            <a:ext cx="8138160" cy="502920"/>
          </a:xfrm>
          <a:prstGeom prst="roundRect">
            <a:avLst>
              <a:gd name="adj" fmla="val 10909"/>
            </a:avLst>
          </a:prstGeom>
          <a:solidFill>
            <a:srgbClr val="FFF2CC"/>
          </a:solidFill>
          <a:ln w="12700">
            <a:solidFill>
              <a:srgbClr val="E0A800"/>
            </a:solidFill>
            <a:prstDash val="solid"/>
          </a:ln>
        </p:spPr>
      </p:sp>
      <p:sp>
        <p:nvSpPr>
          <p:cNvPr id="14" name="Text 11"/>
          <p:cNvSpPr txBox="1"/>
          <p:nvPr/>
        </p:nvSpPr>
        <p:spPr>
          <a:xfrm>
            <a:off x="640080" y="4169664"/>
            <a:ext cx="7863840" cy="393192"/>
          </a:xfrm>
          <a:prstGeom prst="rect">
            <a:avLst/>
          </a:prstGeom>
          <a:noFill/>
          <a:ln/>
        </p:spPr>
        <p:txBody>
          <a:bodyPr wrap="square" lIns="0" tIns="0" rIns="0" bIns="0" rtlCol="0" anchor="ctr"/>
          <a:lstStyle/>
          <a:p>
            <a:pPr marL="0" indent="0" algn="l">
              <a:buNone/>
            </a:pPr>
            <a:r>
              <a:rPr lang="en-US" sz="1400" b="1" dirty="0">
                <a:solidFill>
                  <a:srgbClr val="7A5200"/>
                </a:solidFill>
                <a:latin typeface="Arial" pitchFamily="34" charset="0"/>
                <a:ea typeface="Arial" pitchFamily="34" charset="-122"/>
                <a:cs typeface="Arial" pitchFamily="34" charset="-120"/>
              </a:rPr>
              <a:t>PDF output needs a LaTeX installation. Run quarto install tinytex once and it is handled.</a:t>
            </a:r>
            <a:endParaRPr lang="en-US" sz="1400" dirty="0"/>
          </a:p>
        </p:txBody>
      </p:sp>
      <p:sp>
        <p:nvSpPr>
          <p:cNvPr id="15" name="Text 12"/>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200" dirty="0">
                <a:solidFill>
                  <a:srgbClr val="777777"/>
                </a:solidFill>
                <a:latin typeface="Arial" pitchFamily="34" charset="0"/>
                <a:ea typeface="Arial" pitchFamily="34" charset="-122"/>
                <a:cs typeface="Arial" pitchFamily="34" charset="-120"/>
              </a:rPr>
              <a:t>Source: Quarto documentation, output formats.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Rendering runs everything in a fresh session, so it is also your reproducibility test</a:t>
            </a:r>
            <a:endParaRPr lang="en-US" sz="2400" dirty="0"/>
          </a:p>
        </p:txBody>
      </p:sp>
      <p:sp>
        <p:nvSpPr>
          <p:cNvPr id="4" name="Text 1"/>
          <p:cNvSpPr txBox="1"/>
          <p:nvPr/>
        </p:nvSpPr>
        <p:spPr>
          <a:xfrm>
            <a:off x="502920" y="1170432"/>
            <a:ext cx="397764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What a clean render proves</a:t>
            </a:r>
            <a:endParaRPr lang="en-US" sz="1800" dirty="0"/>
          </a:p>
        </p:txBody>
      </p:sp>
      <p:sp>
        <p:nvSpPr>
          <p:cNvPr id="5" name="Text 2"/>
          <p:cNvSpPr txBox="1"/>
          <p:nvPr/>
        </p:nvSpPr>
        <p:spPr>
          <a:xfrm>
            <a:off x="502920" y="1499616"/>
            <a:ext cx="3977640"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Every file the code needs is actually in the project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Every path resolves from the project root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Nothing depends on objects left in your memory</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run order in your scripts is correct</a:t>
            </a:r>
            <a:endParaRPr lang="en-US" sz="1400" dirty="0"/>
          </a:p>
        </p:txBody>
      </p:sp>
      <p:sp>
        <p:nvSpPr>
          <p:cNvPr id="6" name="Text 3"/>
          <p:cNvSpPr txBox="1"/>
          <p:nvPr/>
        </p:nvSpPr>
        <p:spPr>
          <a:xfrm>
            <a:off x="4709160" y="1170432"/>
            <a:ext cx="393192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Build the habit</a:t>
            </a:r>
            <a:endParaRPr lang="en-US" sz="1800" dirty="0"/>
          </a:p>
        </p:txBody>
      </p:sp>
      <p:sp>
        <p:nvSpPr>
          <p:cNvPr id="7" name="Text 4"/>
          <p:cNvSpPr txBox="1"/>
          <p:nvPr/>
        </p:nvSpPr>
        <p:spPr>
          <a:xfrm>
            <a:off x="4709160" y="1499616"/>
            <a:ext cx="3931920" cy="182880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Render before every push to GitHub</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If it fails, fix it before your teammates pull it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Commit the source .qmd, gitignore the rendered output</a:t>
            </a:r>
            <a:endParaRPr lang="en-US" sz="1400" dirty="0"/>
          </a:p>
          <a:p>
            <a:pPr marL="342900" indent="-342900">
              <a:spcAft>
                <a:spcPts val="900"/>
              </a:spcAft>
              <a:buSzPct val="100000"/>
              <a:buChar char="•"/>
            </a:pPr>
            <a:r>
              <a:rPr lang="en-US" sz="1400" dirty="0">
                <a:solidFill>
                  <a:srgbClr val="2D2D2D"/>
                </a:solidFill>
                <a:latin typeface="Arial" pitchFamily="34" charset="0"/>
                <a:ea typeface="Arial" pitchFamily="34" charset="-122"/>
                <a:cs typeface="Arial" pitchFamily="34" charset="-120"/>
              </a:rPr>
              <a:t>The output is regenerated, so it does not belong in Git</a:t>
            </a:r>
            <a:endParaRPr lang="en-US" sz="1400" dirty="0"/>
          </a:p>
        </p:txBody>
      </p:sp>
      <p:sp>
        <p:nvSpPr>
          <p:cNvPr id="8" name="Shape 5"/>
          <p:cNvSpPr/>
          <p:nvPr/>
        </p:nvSpPr>
        <p:spPr>
          <a:xfrm>
            <a:off x="502920" y="3429000"/>
            <a:ext cx="8138160" cy="713232"/>
          </a:xfrm>
          <a:prstGeom prst="roundRect">
            <a:avLst>
              <a:gd name="adj" fmla="val 7692"/>
            </a:avLst>
          </a:prstGeom>
          <a:solidFill>
            <a:srgbClr val="FFF2CC"/>
          </a:solidFill>
          <a:ln w="12700">
            <a:solidFill>
              <a:srgbClr val="E0A800"/>
            </a:solidFill>
            <a:prstDash val="solid"/>
          </a:ln>
        </p:spPr>
      </p:sp>
      <p:sp>
        <p:nvSpPr>
          <p:cNvPr id="9" name="Text 6"/>
          <p:cNvSpPr txBox="1"/>
          <p:nvPr/>
        </p:nvSpPr>
        <p:spPr>
          <a:xfrm>
            <a:off x="640080" y="3483864"/>
            <a:ext cx="7863840" cy="603504"/>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A clean render is the closest thing you have to proof that the project will run on someone else's machine. Treat a failed render as a bug you were lucky to catch.</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502920"/>
          </a:xfrm>
          <a:prstGeom prst="rect">
            <a:avLst/>
          </a:prstGeom>
          <a:noFill/>
          <a:ln/>
        </p:spPr>
        <p:txBody>
          <a:bodyPr wrap="square" lIns="0" tIns="0" rIns="0" bIns="0" rtlCol="0" anchor="ctr"/>
          <a:lstStyle/>
          <a:p>
            <a:pPr marL="0" indent="0">
              <a:buNone/>
            </a:pPr>
            <a:r>
              <a:rPr lang="en-US" sz="2400" b="1" dirty="0">
                <a:solidFill>
                  <a:srgbClr val="1F4E79"/>
                </a:solidFill>
                <a:latin typeface="Arial" pitchFamily="34" charset="0"/>
                <a:ea typeface="Arial" pitchFamily="34" charset="-122"/>
                <a:cs typeface="Arial" pitchFamily="34" charset="-120"/>
              </a:rPr>
              <a:t>Exercise — build the skeleton and render it three ways</a:t>
            </a:r>
            <a:endParaRPr lang="en-US" sz="2400" dirty="0"/>
          </a:p>
        </p:txBody>
      </p:sp>
      <p:sp>
        <p:nvSpPr>
          <p:cNvPr id="3" name="Text 1"/>
          <p:cNvSpPr txBox="1"/>
          <p:nvPr/>
        </p:nvSpPr>
        <p:spPr>
          <a:xfrm>
            <a:off x="502920" y="768096"/>
            <a:ext cx="8138160" cy="292608"/>
          </a:xfrm>
          <a:prstGeom prst="rect">
            <a:avLst/>
          </a:prstGeom>
          <a:noFill/>
          <a:ln/>
        </p:spPr>
        <p:txBody>
          <a:bodyPr wrap="square" lIns="0" tIns="0" rIns="0" bIns="0" rtlCol="0" anchor="ctr"/>
          <a:lstStyle/>
          <a:p>
            <a:pPr marL="0" indent="0">
              <a:buNone/>
            </a:pPr>
            <a:r>
              <a:rPr lang="en-US" sz="1500" b="1" dirty="0">
                <a:solidFill>
                  <a:srgbClr val="2E75B6"/>
                </a:solidFill>
                <a:latin typeface="Arial" pitchFamily="34" charset="0"/>
                <a:ea typeface="Arial" pitchFamily="34" charset="-122"/>
                <a:cs typeface="Arial" pitchFamily="34" charset="-120"/>
              </a:rPr>
              <a:t>Work in your project groups.  10 minutes.  One project per group.</a:t>
            </a:r>
            <a:endParaRPr lang="en-US" sz="1500" dirty="0"/>
          </a:p>
        </p:txBody>
      </p:sp>
      <p:sp>
        <p:nvSpPr>
          <p:cNvPr id="4" name="Shape 2"/>
          <p:cNvSpPr/>
          <p:nvPr/>
        </p:nvSpPr>
        <p:spPr>
          <a:xfrm>
            <a:off x="502920" y="1170431"/>
            <a:ext cx="4846320" cy="3253461"/>
          </a:xfrm>
          <a:prstGeom prst="roundRect">
            <a:avLst>
              <a:gd name="adj" fmla="val 2000"/>
            </a:avLst>
          </a:prstGeom>
          <a:solidFill>
            <a:srgbClr val="F1F4F8"/>
          </a:solidFill>
          <a:ln w="12700">
            <a:solidFill>
              <a:srgbClr val="D6DEE8"/>
            </a:solidFill>
            <a:prstDash val="solid"/>
          </a:ln>
        </p:spPr>
      </p:sp>
      <p:sp>
        <p:nvSpPr>
          <p:cNvPr id="5" name="Text 3"/>
          <p:cNvSpPr txBox="1"/>
          <p:nvPr/>
        </p:nvSpPr>
        <p:spPr>
          <a:xfrm>
            <a:off x="630936" y="1243584"/>
            <a:ext cx="4590288" cy="2976372"/>
          </a:xfrm>
          <a:prstGeom prst="rect">
            <a:avLst/>
          </a:prstGeom>
          <a:noFill/>
          <a:ln/>
        </p:spPr>
        <p:txBody>
          <a:bodyPr wrap="square" lIns="0" tIns="0" rIns="0" bIns="0" rtlCol="0" anchor="t"/>
          <a:lstStyle/>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make a new quarto file: File &gt; New File &gt; Quarto Document</a:t>
            </a:r>
            <a:endParaRPr lang="en-US" sz="1150" dirty="0"/>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save it as </a:t>
            </a:r>
            <a:r>
              <a:rPr lang="en-US" sz="1150" dirty="0" err="1">
                <a:solidFill>
                  <a:srgbClr val="2D2D2D"/>
                </a:solidFill>
                <a:latin typeface="Courier New" pitchFamily="34" charset="0"/>
                <a:ea typeface="Courier New" pitchFamily="34" charset="-122"/>
                <a:cs typeface="Courier New" pitchFamily="34" charset="-120"/>
              </a:rPr>
              <a:t>report.qmd</a:t>
            </a:r>
            <a:r>
              <a:rPr lang="en-US" sz="1150" dirty="0">
                <a:solidFill>
                  <a:srgbClr val="2D2D2D"/>
                </a:solidFill>
                <a:latin typeface="Courier New" pitchFamily="34" charset="0"/>
                <a:ea typeface="Courier New" pitchFamily="34" charset="-122"/>
                <a:cs typeface="Courier New" pitchFamily="34" charset="-120"/>
              </a:rPr>
              <a:t> </a:t>
            </a:r>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title: Introduce team members </a:t>
            </a:r>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Make sections for each member</a:t>
            </a:r>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Each person needs to introduce your name (with English name, too), your habit, your social media (IG), and a touched photo avatar inside the report</a:t>
            </a:r>
          </a:p>
          <a:p>
            <a:pPr marL="0" indent="0">
              <a:lnSpc>
                <a:spcPct val="115000"/>
              </a:lnSpc>
              <a:buNone/>
            </a:pPr>
            <a:r>
              <a:rPr lang="en-US" sz="1150" dirty="0">
                <a:solidFill>
                  <a:srgbClr val="2D2D2D"/>
                </a:solidFill>
                <a:latin typeface="Courier New" pitchFamily="34" charset="0"/>
                <a:ea typeface="Courier New" pitchFamily="34" charset="-122"/>
                <a:cs typeface="Courier New" pitchFamily="34" charset="-120"/>
              </a:rPr>
              <a:t># and render it to multiple output formats: html, docx, and pptx slides</a:t>
            </a:r>
          </a:p>
          <a:p>
            <a:pPr marL="0" indent="0">
              <a:lnSpc>
                <a:spcPct val="115000"/>
              </a:lnSpc>
              <a:buNone/>
            </a:pPr>
            <a:r>
              <a:rPr lang="en-US" sz="1150" dirty="0">
                <a:solidFill>
                  <a:srgbClr val="2D2D2D"/>
                </a:solidFill>
                <a:latin typeface="Courier New" pitchFamily="34" charset="0"/>
                <a:cs typeface="Courier New" pitchFamily="34" charset="-120"/>
              </a:rPr>
              <a:t># submit the three output files to me</a:t>
            </a:r>
            <a:endParaRPr lang="en-US" sz="1150" dirty="0"/>
          </a:p>
        </p:txBody>
      </p:sp>
      <p:sp>
        <p:nvSpPr>
          <p:cNvPr id="10" name="Text 8"/>
          <p:cNvSpPr txBox="1"/>
          <p:nvPr/>
        </p:nvSpPr>
        <p:spPr>
          <a:xfrm>
            <a:off x="502920" y="4539996"/>
            <a:ext cx="8138160" cy="365760"/>
          </a:xfrm>
          <a:prstGeom prst="rect">
            <a:avLst/>
          </a:prstGeom>
          <a:noFill/>
          <a:ln/>
        </p:spPr>
        <p:txBody>
          <a:bodyPr wrap="square" lIns="0" tIns="0" rIns="0" bIns="0" rtlCol="0" anchor="ctr"/>
          <a:lstStyle/>
          <a:p>
            <a:pPr marL="0" indent="0">
              <a:buNone/>
            </a:pPr>
            <a:r>
              <a:rPr lang="en-US" sz="1300" dirty="0">
                <a:solidFill>
                  <a:srgbClr val="777777"/>
                </a:solidFill>
                <a:latin typeface="Arial" pitchFamily="34" charset="0"/>
                <a:ea typeface="Arial" pitchFamily="34" charset="-122"/>
                <a:cs typeface="Arial" pitchFamily="34" charset="-120"/>
              </a:rPr>
              <a:t>The usual failures are a wrong file path call and a PDF render with no LaTeX installed.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749808"/>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Ground rules for your group project</a:t>
            </a:r>
            <a:endParaRPr lang="en-US" sz="2400" dirty="0"/>
          </a:p>
        </p:txBody>
      </p:sp>
      <p:sp>
        <p:nvSpPr>
          <p:cNvPr id="4" name="Shape 1"/>
          <p:cNvSpPr/>
          <p:nvPr/>
        </p:nvSpPr>
        <p:spPr>
          <a:xfrm>
            <a:off x="502920" y="1188720"/>
            <a:ext cx="3931920" cy="868680"/>
          </a:xfrm>
          <a:prstGeom prst="roundRect">
            <a:avLst>
              <a:gd name="adj" fmla="val 6316"/>
            </a:avLst>
          </a:prstGeom>
          <a:solidFill>
            <a:srgbClr val="F5F7FA"/>
          </a:solidFill>
          <a:ln w="12700">
            <a:solidFill>
              <a:srgbClr val="CCCCCC"/>
            </a:solidFill>
            <a:prstDash val="solid"/>
          </a:ln>
        </p:spPr>
      </p:sp>
      <p:sp>
        <p:nvSpPr>
          <p:cNvPr id="5" name="Text 2"/>
          <p:cNvSpPr txBox="1"/>
          <p:nvPr/>
        </p:nvSpPr>
        <p:spPr>
          <a:xfrm>
            <a:off x="667512" y="1280160"/>
            <a:ext cx="3611880" cy="310896"/>
          </a:xfrm>
          <a:prstGeom prst="rect">
            <a:avLst/>
          </a:prstGeom>
          <a:noFill/>
          <a:ln/>
        </p:spPr>
        <p:txBody>
          <a:bodyPr wrap="square" lIns="0" tIns="0" rIns="0" bIns="0" rtlCol="0" anchor="ctr"/>
          <a:lstStyle/>
          <a:p>
            <a:pPr marL="0" indent="0">
              <a:buNone/>
            </a:pPr>
            <a:r>
              <a:rPr lang="en-US" sz="1600" b="1" dirty="0">
                <a:solidFill>
                  <a:srgbClr val="1F4E79"/>
                </a:solidFill>
                <a:latin typeface="Arial" pitchFamily="34" charset="0"/>
                <a:ea typeface="Arial" pitchFamily="34" charset="-122"/>
                <a:cs typeface="Arial" pitchFamily="34" charset="-120"/>
              </a:rPr>
              <a:t>Never edit data/raw</a:t>
            </a:r>
            <a:endParaRPr lang="en-US" sz="1600" dirty="0"/>
          </a:p>
        </p:txBody>
      </p:sp>
      <p:sp>
        <p:nvSpPr>
          <p:cNvPr id="6" name="Text 3"/>
          <p:cNvSpPr txBox="1"/>
          <p:nvPr/>
        </p:nvSpPr>
        <p:spPr>
          <a:xfrm>
            <a:off x="667512" y="1600200"/>
            <a:ext cx="3611880" cy="38404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Every correction goes in a script</a:t>
            </a:r>
            <a:endParaRPr lang="en-US" sz="1350" dirty="0"/>
          </a:p>
        </p:txBody>
      </p:sp>
      <p:sp>
        <p:nvSpPr>
          <p:cNvPr id="7" name="Shape 4"/>
          <p:cNvSpPr/>
          <p:nvPr/>
        </p:nvSpPr>
        <p:spPr>
          <a:xfrm>
            <a:off x="4709160" y="1188720"/>
            <a:ext cx="3931920" cy="868680"/>
          </a:xfrm>
          <a:prstGeom prst="roundRect">
            <a:avLst>
              <a:gd name="adj" fmla="val 6316"/>
            </a:avLst>
          </a:prstGeom>
          <a:solidFill>
            <a:srgbClr val="F5F7FA"/>
          </a:solidFill>
          <a:ln w="12700">
            <a:solidFill>
              <a:srgbClr val="CCCCCC"/>
            </a:solidFill>
            <a:prstDash val="solid"/>
          </a:ln>
        </p:spPr>
      </p:sp>
      <p:sp>
        <p:nvSpPr>
          <p:cNvPr id="8" name="Text 5"/>
          <p:cNvSpPr txBox="1"/>
          <p:nvPr/>
        </p:nvSpPr>
        <p:spPr>
          <a:xfrm>
            <a:off x="4873752" y="1280160"/>
            <a:ext cx="3611880" cy="310896"/>
          </a:xfrm>
          <a:prstGeom prst="rect">
            <a:avLst/>
          </a:prstGeom>
          <a:noFill/>
          <a:ln/>
        </p:spPr>
        <p:txBody>
          <a:bodyPr wrap="square" lIns="0" tIns="0" rIns="0" bIns="0" rtlCol="0" anchor="ctr"/>
          <a:lstStyle/>
          <a:p>
            <a:pPr marL="0" indent="0">
              <a:buNone/>
            </a:pPr>
            <a:r>
              <a:rPr lang="en-US" sz="1600" b="1" dirty="0">
                <a:solidFill>
                  <a:srgbClr val="1F4E79"/>
                </a:solidFill>
                <a:latin typeface="Arial" pitchFamily="34" charset="0"/>
                <a:ea typeface="Arial" pitchFamily="34" charset="-122"/>
                <a:cs typeface="Arial" pitchFamily="34" charset="-120"/>
              </a:rPr>
              <a:t>Avoid use setwd()</a:t>
            </a:r>
            <a:endParaRPr lang="en-US" sz="1600" dirty="0"/>
          </a:p>
        </p:txBody>
      </p:sp>
      <p:sp>
        <p:nvSpPr>
          <p:cNvPr id="9" name="Text 6"/>
          <p:cNvSpPr txBox="1"/>
          <p:nvPr/>
        </p:nvSpPr>
        <p:spPr>
          <a:xfrm>
            <a:off x="4873752" y="1600200"/>
            <a:ext cx="3611880" cy="38404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Open the .Rproj and use here() if need</a:t>
            </a:r>
            <a:endParaRPr lang="en-US" sz="1350" dirty="0"/>
          </a:p>
        </p:txBody>
      </p:sp>
      <p:sp>
        <p:nvSpPr>
          <p:cNvPr id="10" name="Shape 7"/>
          <p:cNvSpPr/>
          <p:nvPr/>
        </p:nvSpPr>
        <p:spPr>
          <a:xfrm>
            <a:off x="502920" y="2240280"/>
            <a:ext cx="3931920" cy="868680"/>
          </a:xfrm>
          <a:prstGeom prst="roundRect">
            <a:avLst>
              <a:gd name="adj" fmla="val 6316"/>
            </a:avLst>
          </a:prstGeom>
          <a:solidFill>
            <a:srgbClr val="F5F7FA"/>
          </a:solidFill>
          <a:ln w="12700">
            <a:solidFill>
              <a:srgbClr val="CCCCCC"/>
            </a:solidFill>
            <a:prstDash val="solid"/>
          </a:ln>
        </p:spPr>
      </p:sp>
      <p:sp>
        <p:nvSpPr>
          <p:cNvPr id="11" name="Text 8"/>
          <p:cNvSpPr txBox="1"/>
          <p:nvPr/>
        </p:nvSpPr>
        <p:spPr>
          <a:xfrm>
            <a:off x="667512" y="2331720"/>
            <a:ext cx="3611880" cy="310896"/>
          </a:xfrm>
          <a:prstGeom prst="rect">
            <a:avLst/>
          </a:prstGeom>
          <a:noFill/>
          <a:ln/>
        </p:spPr>
        <p:txBody>
          <a:bodyPr wrap="square" lIns="0" tIns="0" rIns="0" bIns="0" rtlCol="0" anchor="ctr"/>
          <a:lstStyle/>
          <a:p>
            <a:pPr marL="0" indent="0">
              <a:buNone/>
            </a:pPr>
            <a:r>
              <a:rPr lang="en-US" sz="1600" b="1" dirty="0">
                <a:solidFill>
                  <a:srgbClr val="1F4E79"/>
                </a:solidFill>
                <a:latin typeface="Arial" pitchFamily="34" charset="0"/>
                <a:ea typeface="Arial" pitchFamily="34" charset="-122"/>
                <a:cs typeface="Arial" pitchFamily="34" charset="-120"/>
              </a:rPr>
              <a:t>Number your scripts</a:t>
            </a:r>
            <a:endParaRPr lang="en-US" sz="1600" dirty="0"/>
          </a:p>
        </p:txBody>
      </p:sp>
      <p:sp>
        <p:nvSpPr>
          <p:cNvPr id="12" name="Text 9"/>
          <p:cNvSpPr txBox="1"/>
          <p:nvPr/>
        </p:nvSpPr>
        <p:spPr>
          <a:xfrm>
            <a:off x="667512" y="2651760"/>
            <a:ext cx="3611880" cy="38404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So the run order is visible</a:t>
            </a:r>
            <a:endParaRPr lang="en-US" sz="1350" dirty="0"/>
          </a:p>
        </p:txBody>
      </p:sp>
      <p:sp>
        <p:nvSpPr>
          <p:cNvPr id="13" name="Shape 10"/>
          <p:cNvSpPr/>
          <p:nvPr/>
        </p:nvSpPr>
        <p:spPr>
          <a:xfrm>
            <a:off x="4709160" y="2240280"/>
            <a:ext cx="3931920" cy="868680"/>
          </a:xfrm>
          <a:prstGeom prst="roundRect">
            <a:avLst>
              <a:gd name="adj" fmla="val 6316"/>
            </a:avLst>
          </a:prstGeom>
          <a:solidFill>
            <a:srgbClr val="F5F7FA"/>
          </a:solidFill>
          <a:ln w="12700">
            <a:solidFill>
              <a:srgbClr val="CCCCCC"/>
            </a:solidFill>
            <a:prstDash val="solid"/>
          </a:ln>
        </p:spPr>
      </p:sp>
      <p:sp>
        <p:nvSpPr>
          <p:cNvPr id="14" name="Text 11"/>
          <p:cNvSpPr txBox="1"/>
          <p:nvPr/>
        </p:nvSpPr>
        <p:spPr>
          <a:xfrm>
            <a:off x="4873752" y="2331720"/>
            <a:ext cx="3611880" cy="310896"/>
          </a:xfrm>
          <a:prstGeom prst="rect">
            <a:avLst/>
          </a:prstGeom>
          <a:noFill/>
          <a:ln/>
        </p:spPr>
        <p:txBody>
          <a:bodyPr wrap="square" lIns="0" tIns="0" rIns="0" bIns="0" rtlCol="0" anchor="ctr"/>
          <a:lstStyle/>
          <a:p>
            <a:pPr marL="0" indent="0">
              <a:buNone/>
            </a:pPr>
            <a:r>
              <a:rPr lang="en-US" sz="1600" b="1" dirty="0">
                <a:solidFill>
                  <a:srgbClr val="1F4E79"/>
                </a:solidFill>
                <a:latin typeface="Arial" pitchFamily="34" charset="0"/>
                <a:ea typeface="Arial" pitchFamily="34" charset="-122"/>
                <a:cs typeface="Arial" pitchFamily="34" charset="-120"/>
              </a:rPr>
              <a:t>Render before you push</a:t>
            </a:r>
            <a:endParaRPr lang="en-US" sz="1600" dirty="0"/>
          </a:p>
        </p:txBody>
      </p:sp>
      <p:sp>
        <p:nvSpPr>
          <p:cNvPr id="15" name="Text 12"/>
          <p:cNvSpPr txBox="1"/>
          <p:nvPr/>
        </p:nvSpPr>
        <p:spPr>
          <a:xfrm>
            <a:off x="4873752" y="2651760"/>
            <a:ext cx="3611880" cy="38404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A failed render is a bug you caught</a:t>
            </a:r>
            <a:endParaRPr lang="en-US" sz="1350" dirty="0"/>
          </a:p>
        </p:txBody>
      </p:sp>
      <p:sp>
        <p:nvSpPr>
          <p:cNvPr id="16" name="Shape 13"/>
          <p:cNvSpPr/>
          <p:nvPr/>
        </p:nvSpPr>
        <p:spPr>
          <a:xfrm>
            <a:off x="502920" y="3291840"/>
            <a:ext cx="3931920" cy="868680"/>
          </a:xfrm>
          <a:prstGeom prst="roundRect">
            <a:avLst>
              <a:gd name="adj" fmla="val 6316"/>
            </a:avLst>
          </a:prstGeom>
          <a:solidFill>
            <a:srgbClr val="F5F7FA"/>
          </a:solidFill>
          <a:ln w="12700">
            <a:solidFill>
              <a:srgbClr val="CCCCCC"/>
            </a:solidFill>
            <a:prstDash val="solid"/>
          </a:ln>
        </p:spPr>
      </p:sp>
      <p:sp>
        <p:nvSpPr>
          <p:cNvPr id="17" name="Text 14"/>
          <p:cNvSpPr txBox="1"/>
          <p:nvPr/>
        </p:nvSpPr>
        <p:spPr>
          <a:xfrm>
            <a:off x="667512" y="3383280"/>
            <a:ext cx="3611880" cy="310896"/>
          </a:xfrm>
          <a:prstGeom prst="rect">
            <a:avLst/>
          </a:prstGeom>
          <a:noFill/>
          <a:ln/>
        </p:spPr>
        <p:txBody>
          <a:bodyPr wrap="square" lIns="0" tIns="0" rIns="0" bIns="0" rtlCol="0" anchor="ctr"/>
          <a:lstStyle/>
          <a:p>
            <a:pPr marL="0" indent="0">
              <a:buNone/>
            </a:pPr>
            <a:r>
              <a:rPr lang="en-US" sz="1600" b="1" dirty="0">
                <a:solidFill>
                  <a:srgbClr val="1F4E79"/>
                </a:solidFill>
                <a:latin typeface="Arial" pitchFamily="34" charset="0"/>
                <a:ea typeface="Arial" pitchFamily="34" charset="-122"/>
                <a:cs typeface="Arial" pitchFamily="34" charset="-120"/>
              </a:rPr>
              <a:t>Commit source, not output</a:t>
            </a:r>
            <a:endParaRPr lang="en-US" sz="1600" dirty="0"/>
          </a:p>
        </p:txBody>
      </p:sp>
      <p:sp>
        <p:nvSpPr>
          <p:cNvPr id="18" name="Text 15"/>
          <p:cNvSpPr txBox="1"/>
          <p:nvPr/>
        </p:nvSpPr>
        <p:spPr>
          <a:xfrm>
            <a:off x="667512" y="3703320"/>
            <a:ext cx="3611880" cy="38404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Rendered files are regenerated</a:t>
            </a:r>
            <a:endParaRPr lang="en-US" sz="1350" dirty="0"/>
          </a:p>
        </p:txBody>
      </p:sp>
      <p:sp>
        <p:nvSpPr>
          <p:cNvPr id="19" name="Shape 16"/>
          <p:cNvSpPr/>
          <p:nvPr/>
        </p:nvSpPr>
        <p:spPr>
          <a:xfrm>
            <a:off x="4709160" y="3291840"/>
            <a:ext cx="3931920" cy="868680"/>
          </a:xfrm>
          <a:prstGeom prst="roundRect">
            <a:avLst>
              <a:gd name="adj" fmla="val 6316"/>
            </a:avLst>
          </a:prstGeom>
          <a:solidFill>
            <a:srgbClr val="F5F7FA"/>
          </a:solidFill>
          <a:ln w="12700">
            <a:solidFill>
              <a:srgbClr val="CCCCCC"/>
            </a:solidFill>
            <a:prstDash val="solid"/>
          </a:ln>
        </p:spPr>
      </p:sp>
      <p:sp>
        <p:nvSpPr>
          <p:cNvPr id="20" name="Text 17"/>
          <p:cNvSpPr txBox="1"/>
          <p:nvPr/>
        </p:nvSpPr>
        <p:spPr>
          <a:xfrm>
            <a:off x="4873752" y="3383280"/>
            <a:ext cx="3611880" cy="310896"/>
          </a:xfrm>
          <a:prstGeom prst="rect">
            <a:avLst/>
          </a:prstGeom>
          <a:noFill/>
          <a:ln/>
        </p:spPr>
        <p:txBody>
          <a:bodyPr wrap="square" lIns="0" tIns="0" rIns="0" bIns="0" rtlCol="0" anchor="ctr"/>
          <a:lstStyle/>
          <a:p>
            <a:pPr marL="0" indent="0">
              <a:buNone/>
            </a:pPr>
            <a:r>
              <a:rPr lang="en-US" sz="1600" b="1" dirty="0">
                <a:solidFill>
                  <a:srgbClr val="1F4E79"/>
                </a:solidFill>
                <a:latin typeface="Arial" pitchFamily="34" charset="0"/>
                <a:ea typeface="Arial" pitchFamily="34" charset="-122"/>
                <a:cs typeface="Arial" pitchFamily="34" charset="-120"/>
              </a:rPr>
              <a:t>Write the README first</a:t>
            </a:r>
            <a:endParaRPr lang="en-US" sz="1600" dirty="0"/>
          </a:p>
        </p:txBody>
      </p:sp>
      <p:sp>
        <p:nvSpPr>
          <p:cNvPr id="21" name="Text 18"/>
          <p:cNvSpPr txBox="1"/>
          <p:nvPr/>
        </p:nvSpPr>
        <p:spPr>
          <a:xfrm>
            <a:off x="4873752" y="3703320"/>
            <a:ext cx="3611880" cy="384048"/>
          </a:xfrm>
          <a:prstGeom prst="rect">
            <a:avLst/>
          </a:prstGeom>
          <a:noFill/>
          <a:ln/>
        </p:spPr>
        <p:txBody>
          <a:bodyPr wrap="square" lIns="0" tIns="0" rIns="0" bIns="0" rtlCol="0" anchor="t"/>
          <a:lstStyle/>
          <a:p>
            <a:pPr marL="0" indent="0">
              <a:buNone/>
            </a:pPr>
            <a:r>
              <a:rPr lang="en-US" sz="1350" dirty="0">
                <a:solidFill>
                  <a:srgbClr val="2D2D2D"/>
                </a:solidFill>
                <a:latin typeface="Arial" pitchFamily="34" charset="0"/>
                <a:ea typeface="Arial" pitchFamily="34" charset="-122"/>
                <a:cs typeface="Arial" pitchFamily="34" charset="-120"/>
              </a:rPr>
              <a:t>One sentence, then what to run</a:t>
            </a:r>
            <a:endParaRPr lang="en-US" sz="1350" dirty="0"/>
          </a:p>
        </p:txBody>
      </p:sp>
      <p:sp>
        <p:nvSpPr>
          <p:cNvPr id="22" name="Shape 19"/>
          <p:cNvSpPr/>
          <p:nvPr/>
        </p:nvSpPr>
        <p:spPr>
          <a:xfrm>
            <a:off x="502920" y="4370832"/>
            <a:ext cx="8138160" cy="457200"/>
          </a:xfrm>
          <a:prstGeom prst="roundRect">
            <a:avLst>
              <a:gd name="adj" fmla="val 12000"/>
            </a:avLst>
          </a:prstGeom>
          <a:solidFill>
            <a:srgbClr val="FFF2CC"/>
          </a:solidFill>
          <a:ln w="12700">
            <a:solidFill>
              <a:srgbClr val="E0A800"/>
            </a:solidFill>
            <a:prstDash val="solid"/>
          </a:ln>
        </p:spPr>
      </p:sp>
      <p:sp>
        <p:nvSpPr>
          <p:cNvPr id="23" name="Text 20"/>
          <p:cNvSpPr txBox="1"/>
          <p:nvPr/>
        </p:nvSpPr>
        <p:spPr>
          <a:xfrm>
            <a:off x="640080" y="4425696"/>
            <a:ext cx="7863840" cy="347472"/>
          </a:xfrm>
          <a:prstGeom prst="rect">
            <a:avLst/>
          </a:prstGeom>
          <a:noFill/>
          <a:ln/>
        </p:spPr>
        <p:txBody>
          <a:bodyPr wrap="square" lIns="0" tIns="0" rIns="0" bIns="0" rtlCol="0" anchor="ctr"/>
          <a:lstStyle/>
          <a:p>
            <a:pPr marL="0" indent="0" algn="l">
              <a:buNone/>
            </a:pPr>
            <a:r>
              <a:rPr lang="en-US" sz="1500" b="1" dirty="0">
                <a:solidFill>
                  <a:srgbClr val="7A5200"/>
                </a:solidFill>
                <a:latin typeface="Arial" pitchFamily="34" charset="0"/>
                <a:ea typeface="Arial" pitchFamily="34" charset="-122"/>
                <a:cs typeface="Arial" pitchFamily="34" charset="-120"/>
              </a:rPr>
              <a:t>Never editing raw data and avoid using setwd() prevent most of what goes wrong.</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502920" y="256032"/>
            <a:ext cx="8138160" cy="411480"/>
          </a:xfrm>
          <a:prstGeom prst="rect">
            <a:avLst/>
          </a:prstGeom>
          <a:noFill/>
          <a:ln/>
        </p:spPr>
        <p:txBody>
          <a:bodyPr wrap="square" lIns="0" tIns="0" rIns="0" bIns="0" rtlCol="0" anchor="ctr"/>
          <a:lstStyle/>
          <a:p>
            <a:pPr marL="0" indent="0">
              <a:buNone/>
            </a:pPr>
            <a:r>
              <a:rPr lang="en-US" sz="2000" dirty="0">
                <a:solidFill>
                  <a:srgbClr val="A0BBDD"/>
                </a:solidFill>
                <a:latin typeface="Arial" pitchFamily="34" charset="0"/>
                <a:ea typeface="Arial" pitchFamily="34" charset="-122"/>
                <a:cs typeface="Arial" pitchFamily="34" charset="-120"/>
              </a:rPr>
              <a:t>What to take away</a:t>
            </a:r>
            <a:endParaRPr lang="en-US" sz="2000" dirty="0"/>
          </a:p>
        </p:txBody>
      </p:sp>
      <p:sp>
        <p:nvSpPr>
          <p:cNvPr id="3" name="Shape 1"/>
          <p:cNvSpPr/>
          <p:nvPr/>
        </p:nvSpPr>
        <p:spPr>
          <a:xfrm>
            <a:off x="502920" y="694944"/>
            <a:ext cx="8138160" cy="41148"/>
          </a:xfrm>
          <a:prstGeom prst="rect">
            <a:avLst/>
          </a:prstGeom>
          <a:solidFill>
            <a:srgbClr val="2E75B6"/>
          </a:solidFill>
          <a:ln w="12700">
            <a:solidFill>
              <a:srgbClr val="2E75B6"/>
            </a:solidFill>
            <a:prstDash val="solid"/>
          </a:ln>
        </p:spPr>
      </p:sp>
      <p:sp>
        <p:nvSpPr>
          <p:cNvPr id="4" name="Text 2"/>
          <p:cNvSpPr txBox="1"/>
          <p:nvPr/>
        </p:nvSpPr>
        <p:spPr>
          <a:xfrm>
            <a:off x="502920" y="896112"/>
            <a:ext cx="8138160" cy="3108960"/>
          </a:xfrm>
          <a:prstGeom prst="rect">
            <a:avLst/>
          </a:prstGeom>
          <a:noFill/>
          <a:ln/>
        </p:spPr>
        <p:txBody>
          <a:bodyPr wrap="square" lIns="0" tIns="0" rIns="0" bIns="0" rtlCol="0" anchor="ctr"/>
          <a:lstStyle/>
          <a:p>
            <a:pPr marL="0" indent="0">
              <a:spcAft>
                <a:spcPts val="200"/>
              </a:spcAft>
              <a:buNone/>
            </a:pPr>
            <a:r>
              <a:rPr lang="en-US" sz="1600" b="1" dirty="0">
                <a:solidFill>
                  <a:srgbClr val="FFFFFF"/>
                </a:solidFill>
                <a:latin typeface="Arial" pitchFamily="34" charset="0"/>
                <a:ea typeface="Arial" pitchFamily="34" charset="-122"/>
                <a:cs typeface="Arial" pitchFamily="34" charset="-120"/>
              </a:rPr>
              <a:t>1. Structure is a ten-minute decision with a long life. </a:t>
            </a:r>
            <a:r>
              <a:rPr lang="en-US" sz="1600" dirty="0">
                <a:solidFill>
                  <a:srgbClr val="FFFFFF"/>
                </a:solidFill>
                <a:latin typeface="Arial" pitchFamily="34" charset="0"/>
                <a:ea typeface="Arial" pitchFamily="34" charset="-122"/>
                <a:cs typeface="Arial" pitchFamily="34" charset="-120"/>
              </a:rPr>
              <a:t>Separate raw inputs, code, and regenerated outputs, and never edit raw data.</a:t>
            </a:r>
            <a:endParaRPr lang="en-US" sz="1600" dirty="0"/>
          </a:p>
          <a:p>
            <a:pPr marL="0" indent="0">
              <a:spcAft>
                <a:spcPts val="200"/>
              </a:spcAft>
              <a:buNone/>
            </a:pPr>
            <a:endParaRPr lang="en-US" sz="1600" dirty="0"/>
          </a:p>
          <a:p>
            <a:pPr marL="0" indent="0">
              <a:spcAft>
                <a:spcPts val="200"/>
              </a:spcAft>
              <a:buNone/>
            </a:pPr>
            <a:r>
              <a:rPr lang="en-US" sz="1600" b="1" dirty="0">
                <a:solidFill>
                  <a:srgbClr val="FFFFFF"/>
                </a:solidFill>
                <a:latin typeface="Arial" pitchFamily="34" charset="0"/>
                <a:ea typeface="Arial" pitchFamily="34" charset="-122"/>
                <a:cs typeface="Arial" pitchFamily="34" charset="-120"/>
              </a:rPr>
              <a:t>2. Scripts and documents do different jobs. </a:t>
            </a:r>
            <a:r>
              <a:rPr lang="en-US" sz="1600" dirty="0">
                <a:solidFill>
                  <a:srgbClr val="FFFFFF"/>
                </a:solidFill>
                <a:latin typeface="Arial" pitchFamily="34" charset="0"/>
                <a:ea typeface="Arial" pitchFamily="34" charset="-122"/>
                <a:cs typeface="Arial" pitchFamily="34" charset="-120"/>
              </a:rPr>
              <a:t>Scripts hand over data; documents hand over something a person reads. Most projects need both.</a:t>
            </a:r>
            <a:endParaRPr lang="en-US" sz="1600" dirty="0"/>
          </a:p>
          <a:p>
            <a:pPr marL="0" indent="0">
              <a:spcAft>
                <a:spcPts val="200"/>
              </a:spcAft>
              <a:buNone/>
            </a:pPr>
            <a:endParaRPr lang="en-US" sz="1600" dirty="0"/>
          </a:p>
          <a:p>
            <a:pPr marL="0" indent="0">
              <a:spcAft>
                <a:spcPts val="200"/>
              </a:spcAft>
              <a:buNone/>
            </a:pPr>
            <a:r>
              <a:rPr lang="en-US" sz="1600" b="1" dirty="0">
                <a:solidFill>
                  <a:srgbClr val="FFFFFF"/>
                </a:solidFill>
                <a:latin typeface="Arial" pitchFamily="34" charset="0"/>
                <a:ea typeface="Arial" pitchFamily="34" charset="-122"/>
                <a:cs typeface="Arial" pitchFamily="34" charset="-120"/>
              </a:rPr>
              <a:t>3. Markdown makes writing reviewable. </a:t>
            </a:r>
            <a:r>
              <a:rPr lang="en-US" sz="1600" dirty="0">
                <a:solidFill>
                  <a:srgbClr val="FFFFFF"/>
                </a:solidFill>
                <a:latin typeface="Arial" pitchFamily="34" charset="0"/>
                <a:ea typeface="Arial" pitchFamily="34" charset="-122"/>
                <a:cs typeface="Arial" pitchFamily="34" charset="-120"/>
              </a:rPr>
              <a:t>Plain text means Git can diff your prose, and your numbers can come from the code.</a:t>
            </a:r>
            <a:endParaRPr lang="en-US" sz="1600" dirty="0"/>
          </a:p>
          <a:p>
            <a:pPr marL="0" indent="0">
              <a:spcAft>
                <a:spcPts val="200"/>
              </a:spcAft>
              <a:buNone/>
            </a:pPr>
            <a:endParaRPr lang="en-US" sz="1600" dirty="0"/>
          </a:p>
          <a:p>
            <a:pPr marL="0" indent="0">
              <a:spcAft>
                <a:spcPts val="200"/>
              </a:spcAft>
              <a:buNone/>
            </a:pPr>
            <a:r>
              <a:rPr lang="en-US" sz="1600" b="1" dirty="0">
                <a:solidFill>
                  <a:srgbClr val="FFFFFF"/>
                </a:solidFill>
                <a:latin typeface="Arial" pitchFamily="34" charset="0"/>
                <a:ea typeface="Arial" pitchFamily="34" charset="-122"/>
                <a:cs typeface="Arial" pitchFamily="34" charset="-120"/>
              </a:rPr>
              <a:t>4. One source, every format. </a:t>
            </a:r>
            <a:r>
              <a:rPr lang="en-US" sz="1600" dirty="0">
                <a:solidFill>
                  <a:srgbClr val="FFFFFF"/>
                </a:solidFill>
                <a:latin typeface="Arial" pitchFamily="34" charset="0"/>
                <a:ea typeface="Arial" pitchFamily="34" charset="-122"/>
                <a:cs typeface="Arial" pitchFamily="34" charset="-120"/>
              </a:rPr>
              <a:t>HTML, PDF, Word, or slides from one file — and a clean render is your reproducibility test.</a:t>
            </a:r>
            <a:endParaRPr lang="en-US" sz="1600" dirty="0"/>
          </a:p>
        </p:txBody>
      </p:sp>
      <p:sp>
        <p:nvSpPr>
          <p:cNvPr id="5" name="Shape 3"/>
          <p:cNvSpPr/>
          <p:nvPr/>
        </p:nvSpPr>
        <p:spPr>
          <a:xfrm>
            <a:off x="502920" y="4096512"/>
            <a:ext cx="8138160" cy="18288"/>
          </a:xfrm>
          <a:prstGeom prst="rect">
            <a:avLst/>
          </a:prstGeom>
          <a:solidFill>
            <a:srgbClr val="3A6591"/>
          </a:solidFill>
          <a:ln w="12700">
            <a:solidFill>
              <a:srgbClr val="3A6591"/>
            </a:solidFill>
            <a:prstDash val="solid"/>
          </a:ln>
        </p:spPr>
      </p:sp>
      <p:sp>
        <p:nvSpPr>
          <p:cNvPr id="6" name="Text 4"/>
          <p:cNvSpPr txBox="1"/>
          <p:nvPr/>
        </p:nvSpPr>
        <p:spPr>
          <a:xfrm>
            <a:off x="502920" y="4206240"/>
            <a:ext cx="8138160" cy="292608"/>
          </a:xfrm>
          <a:prstGeom prst="rect">
            <a:avLst/>
          </a:prstGeom>
          <a:noFill/>
          <a:ln/>
        </p:spPr>
        <p:txBody>
          <a:bodyPr wrap="square" lIns="0" tIns="0" rIns="0" bIns="0" rtlCol="0" anchor="ctr"/>
          <a:lstStyle/>
          <a:p>
            <a:pPr marL="0" indent="0">
              <a:buNone/>
            </a:pPr>
            <a:r>
              <a:rPr lang="en-US" sz="1400" dirty="0">
                <a:solidFill>
                  <a:srgbClr val="CADCFC"/>
                </a:solidFill>
                <a:latin typeface="Arial" pitchFamily="34" charset="0"/>
                <a:ea typeface="Arial" pitchFamily="34" charset="-122"/>
                <a:cs typeface="Arial" pitchFamily="34" charset="-120"/>
              </a:rPr>
              <a:t>Before next week: set up your group project folder and render one report to two formats</a:t>
            </a:r>
            <a:endParaRPr lang="en-US" sz="1400" dirty="0"/>
          </a:p>
        </p:txBody>
      </p:sp>
      <p:sp>
        <p:nvSpPr>
          <p:cNvPr id="7" name="Text 5"/>
          <p:cNvSpPr txBox="1"/>
          <p:nvPr/>
        </p:nvSpPr>
        <p:spPr>
          <a:xfrm>
            <a:off x="502920" y="4526280"/>
            <a:ext cx="8138160" cy="292608"/>
          </a:xfrm>
          <a:prstGeom prst="rect">
            <a:avLst/>
          </a:prstGeom>
          <a:noFill/>
          <a:ln/>
        </p:spPr>
        <p:txBody>
          <a:bodyPr wrap="square" lIns="0" tIns="0" rIns="0" bIns="0" rtlCol="0" anchor="ctr"/>
          <a:lstStyle/>
          <a:p>
            <a:pPr marL="0" indent="0">
              <a:buNone/>
            </a:pPr>
            <a:r>
              <a:rPr lang="en-US" sz="1300" dirty="0">
                <a:solidFill>
                  <a:srgbClr val="A0BBDD"/>
                </a:solidFill>
                <a:latin typeface="Arial" pitchFamily="34" charset="0"/>
                <a:ea typeface="Arial" pitchFamily="34" charset="-122"/>
                <a:cs typeface="Arial" pitchFamily="34" charset="-120"/>
              </a:rPr>
              <a:t>[instructor@university.edu]  ·  Course repo: [github.com/your-course/repo]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37744"/>
            <a:ext cx="8138160" cy="457200"/>
          </a:xfrm>
          <a:prstGeom prst="rect">
            <a:avLst/>
          </a:prstGeom>
          <a:noFill/>
          <a:ln/>
        </p:spPr>
        <p:txBody>
          <a:bodyPr wrap="square" lIns="0" tIns="0" rIns="0" bIns="0" rtlCol="0" anchor="ctr"/>
          <a:lstStyle/>
          <a:p>
            <a:pPr marL="0" indent="0">
              <a:buNone/>
            </a:pPr>
            <a:r>
              <a:rPr lang="en-US" sz="2400" b="1" dirty="0">
                <a:solidFill>
                  <a:srgbClr val="1F4E79"/>
                </a:solidFill>
                <a:latin typeface="Arial" pitchFamily="34" charset="0"/>
                <a:ea typeface="Arial" pitchFamily="34" charset="-122"/>
                <a:cs typeface="Arial" pitchFamily="34" charset="-120"/>
              </a:rPr>
              <a:t>References and further resources</a:t>
            </a:r>
            <a:endParaRPr lang="en-US" sz="2400" dirty="0"/>
          </a:p>
        </p:txBody>
      </p:sp>
      <p:sp>
        <p:nvSpPr>
          <p:cNvPr id="3" name="Text 1"/>
          <p:cNvSpPr txBox="1"/>
          <p:nvPr/>
        </p:nvSpPr>
        <p:spPr>
          <a:xfrm>
            <a:off x="502920" y="868680"/>
            <a:ext cx="8138160" cy="310896"/>
          </a:xfrm>
          <a:prstGeom prst="rect">
            <a:avLst/>
          </a:prstGeom>
          <a:noFill/>
          <a:ln/>
        </p:spPr>
        <p:txBody>
          <a:bodyPr wrap="square" lIns="0" tIns="0" rIns="0" bIns="0" rtlCol="0" anchor="ctr"/>
          <a:lstStyle/>
          <a:p>
            <a:pPr marL="0" indent="0">
              <a:buNone/>
            </a:pPr>
            <a:r>
              <a:rPr lang="en-US" sz="1800" b="1" dirty="0">
                <a:solidFill>
                  <a:srgbClr val="2E75B6"/>
                </a:solidFill>
                <a:latin typeface="Arial" pitchFamily="34" charset="0"/>
                <a:ea typeface="Arial" pitchFamily="34" charset="-122"/>
                <a:cs typeface="Arial" pitchFamily="34" charset="-120"/>
              </a:rPr>
              <a:t>Core references</a:t>
            </a:r>
            <a:endParaRPr lang="en-US" sz="1800" dirty="0"/>
          </a:p>
        </p:txBody>
      </p:sp>
      <p:sp>
        <p:nvSpPr>
          <p:cNvPr id="4" name="Text 2"/>
          <p:cNvSpPr txBox="1"/>
          <p:nvPr/>
        </p:nvSpPr>
        <p:spPr>
          <a:xfrm>
            <a:off x="502920" y="1207008"/>
            <a:ext cx="8138160" cy="3474720"/>
          </a:xfrm>
          <a:prstGeom prst="rect">
            <a:avLst/>
          </a:prstGeom>
          <a:noFill/>
          <a:ln/>
        </p:spPr>
        <p:txBody>
          <a:bodyPr wrap="square" lIns="0" tIns="0" rIns="0" bIns="0" rtlCol="0" anchor="t"/>
          <a:lstStyle/>
          <a:p>
            <a:pPr marL="0" indent="0">
              <a:spcAft>
                <a:spcPts val="800"/>
              </a:spcAft>
              <a:buNone/>
            </a:pPr>
            <a:r>
              <a:rPr lang="en-US" sz="1200" dirty="0">
                <a:solidFill>
                  <a:srgbClr val="2D2D2D"/>
                </a:solidFill>
                <a:latin typeface="Arial" pitchFamily="34" charset="0"/>
                <a:ea typeface="Arial" pitchFamily="34" charset="-122"/>
                <a:cs typeface="Arial" pitchFamily="34" charset="-120"/>
              </a:rPr>
              <a:t>Quarto documentation. quarto.org — start with the Guide, then Using R and Output Formats.</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Wickham, H., Çetinkaya-Rundel, M. &amp; Grolemund, G. (2023). R for Data Science, 2nd edition. O'Reilly. Chapters on Quarto and Quarto formats. Free at r4ds.hadley.nz</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Turrell, A. (2025). Coding for Economists, chapters on Markdown, Quarto, and Reproducible Analysis. aeturrell.github.io/coding-for-economists</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Posit (2026). Structuring Reproducible Research Projects in R: a workflow with renv, Quarto and GitHub. opensource.posit.co/blog</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here package documentation — project-relative file paths. here.r-lib.org</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renv package documentation — project-local package libraries. rstudio.github.io/renv</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Bryan, J. (2017). Project-oriented workflow. rstats.wtf/project-oriented-workflow.html</a:t>
            </a:r>
            <a:endParaRPr lang="en-US" sz="1200" dirty="0"/>
          </a:p>
          <a:p>
            <a:pPr marL="0" indent="0">
              <a:spcAft>
                <a:spcPts val="800"/>
              </a:spcAft>
              <a:buNone/>
            </a:pPr>
            <a:r>
              <a:rPr lang="en-US" sz="1200" dirty="0">
                <a:solidFill>
                  <a:srgbClr val="2D2D2D"/>
                </a:solidFill>
                <a:latin typeface="Arial" pitchFamily="34" charset="0"/>
                <a:ea typeface="Arial" pitchFamily="34" charset="-122"/>
                <a:cs typeface="Arial" pitchFamily="34" charset="-120"/>
              </a:rPr>
              <a:t>Marwick, B., Boettiger, C. &amp; Mullen, L. (2018). Packaging Data Analytical Work Reproducibly. The American Statistician, 72(1), 80-88.</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164592"/>
            <a:ext cx="8138160" cy="320040"/>
          </a:xfrm>
          <a:prstGeom prst="rect">
            <a:avLst/>
          </a:prstGeom>
          <a:noFill/>
          <a:ln/>
        </p:spPr>
        <p:txBody>
          <a:bodyPr wrap="square" lIns="0" tIns="0" rIns="0" bIns="0" rtlCol="0" anchor="ctr"/>
          <a:lstStyle/>
          <a:p>
            <a:pPr marL="0" indent="0">
              <a:buNone/>
            </a:pPr>
            <a:r>
              <a:rPr lang="en-US" sz="1400" i="1" dirty="0">
                <a:solidFill>
                  <a:srgbClr val="777777"/>
                </a:solidFill>
                <a:latin typeface="Arial" pitchFamily="34" charset="0"/>
                <a:ea typeface="Arial" pitchFamily="34" charset="-122"/>
                <a:cs typeface="Arial" pitchFamily="34" charset="-120"/>
              </a:rPr>
              <a:t>Appendix A — Project starter</a:t>
            </a:r>
            <a:endParaRPr lang="en-US" sz="1400" dirty="0"/>
          </a:p>
        </p:txBody>
      </p:sp>
      <p:sp>
        <p:nvSpPr>
          <p:cNvPr id="3" name="Text 1"/>
          <p:cNvSpPr txBox="1"/>
          <p:nvPr/>
        </p:nvSpPr>
        <p:spPr>
          <a:xfrm>
            <a:off x="502920" y="502920"/>
            <a:ext cx="8138160" cy="384048"/>
          </a:xfrm>
          <a:prstGeom prst="rect">
            <a:avLst/>
          </a:prstGeom>
          <a:noFill/>
          <a:ln/>
        </p:spPr>
        <p:txBody>
          <a:bodyPr wrap="square" lIns="0" tIns="0" rIns="0" bIns="0" rtlCol="0" anchor="ctr"/>
          <a:lstStyle/>
          <a:p>
            <a:pPr marL="0" indent="0">
              <a:buNone/>
            </a:pPr>
            <a:r>
              <a:rPr lang="en-US" sz="2200" b="1" dirty="0">
                <a:solidFill>
                  <a:srgbClr val="1F4E79"/>
                </a:solidFill>
                <a:latin typeface="Arial" pitchFamily="34" charset="0"/>
                <a:ea typeface="Arial" pitchFamily="34" charset="-122"/>
                <a:cs typeface="Arial" pitchFamily="34" charset="-120"/>
              </a:rPr>
              <a:t>Everything you need to start a project, in one place</a:t>
            </a:r>
            <a:endParaRPr lang="en-US" sz="2200" dirty="0"/>
          </a:p>
        </p:txBody>
      </p:sp>
      <p:sp>
        <p:nvSpPr>
          <p:cNvPr id="4" name="Text 2"/>
          <p:cNvSpPr txBox="1"/>
          <p:nvPr/>
        </p:nvSpPr>
        <p:spPr>
          <a:xfrm>
            <a:off x="502920" y="1024128"/>
            <a:ext cx="3931920" cy="274320"/>
          </a:xfrm>
          <a:prstGeom prst="rect">
            <a:avLst/>
          </a:prstGeom>
          <a:noFill/>
          <a:ln/>
        </p:spPr>
        <p:txBody>
          <a:bodyPr wrap="square" lIns="0" tIns="0" rIns="0" bIns="0" rtlCol="0" anchor="ctr"/>
          <a:lstStyle/>
          <a:p>
            <a:pPr marL="0" indent="0">
              <a:buNone/>
            </a:pPr>
            <a:r>
              <a:rPr lang="en-US" sz="1500" b="1" dirty="0">
                <a:solidFill>
                  <a:srgbClr val="2E75B6"/>
                </a:solidFill>
                <a:latin typeface="Arial" pitchFamily="34" charset="0"/>
                <a:ea typeface="Arial" pitchFamily="34" charset="-122"/>
                <a:cs typeface="Arial" pitchFamily="34" charset="-120"/>
              </a:rPr>
              <a:t>Create the skeleton</a:t>
            </a:r>
            <a:endParaRPr lang="en-US" sz="1500" dirty="0"/>
          </a:p>
        </p:txBody>
      </p:sp>
      <p:sp>
        <p:nvSpPr>
          <p:cNvPr id="5" name="Shape 3"/>
          <p:cNvSpPr/>
          <p:nvPr/>
        </p:nvSpPr>
        <p:spPr>
          <a:xfrm>
            <a:off x="502920" y="1325880"/>
            <a:ext cx="3931920" cy="1120140"/>
          </a:xfrm>
          <a:prstGeom prst="roundRect">
            <a:avLst>
              <a:gd name="adj" fmla="val 4082"/>
            </a:avLst>
          </a:prstGeom>
          <a:solidFill>
            <a:srgbClr val="F1F4F8"/>
          </a:solidFill>
          <a:ln w="12700">
            <a:solidFill>
              <a:srgbClr val="D6DEE8"/>
            </a:solidFill>
            <a:prstDash val="solid"/>
          </a:ln>
        </p:spPr>
      </p:sp>
      <p:sp>
        <p:nvSpPr>
          <p:cNvPr id="6" name="Text 4"/>
          <p:cNvSpPr txBox="1"/>
          <p:nvPr/>
        </p:nvSpPr>
        <p:spPr>
          <a:xfrm>
            <a:off x="630936" y="1399032"/>
            <a:ext cx="3675888" cy="973836"/>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library(fs)</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dir_create(c("data/raw",</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"data/process", "R",</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"scripts", "outputs"))</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file_create("README.md")</a:t>
            </a:r>
            <a:endParaRPr lang="en-US" sz="1100" dirty="0"/>
          </a:p>
        </p:txBody>
      </p:sp>
      <p:sp>
        <p:nvSpPr>
          <p:cNvPr id="7" name="Text 5"/>
          <p:cNvSpPr txBox="1"/>
          <p:nvPr/>
        </p:nvSpPr>
        <p:spPr>
          <a:xfrm>
            <a:off x="502920" y="2761488"/>
            <a:ext cx="3931920" cy="274320"/>
          </a:xfrm>
          <a:prstGeom prst="rect">
            <a:avLst/>
          </a:prstGeom>
          <a:noFill/>
          <a:ln/>
        </p:spPr>
        <p:txBody>
          <a:bodyPr wrap="square" lIns="0" tIns="0" rIns="0" bIns="0" rtlCol="0" anchor="ctr"/>
          <a:lstStyle/>
          <a:p>
            <a:pPr marL="0" indent="0">
              <a:buNone/>
            </a:pPr>
            <a:r>
              <a:rPr lang="en-US" sz="1500" b="1" dirty="0">
                <a:solidFill>
                  <a:srgbClr val="2E75B6"/>
                </a:solidFill>
                <a:latin typeface="Arial" pitchFamily="34" charset="0"/>
                <a:ea typeface="Arial" pitchFamily="34" charset="-122"/>
                <a:cs typeface="Arial" pitchFamily="34" charset="-120"/>
              </a:rPr>
              <a:t>Lock the environment</a:t>
            </a:r>
            <a:endParaRPr lang="en-US" sz="1500" dirty="0"/>
          </a:p>
        </p:txBody>
      </p:sp>
      <p:sp>
        <p:nvSpPr>
          <p:cNvPr id="8" name="Shape 6"/>
          <p:cNvSpPr/>
          <p:nvPr/>
        </p:nvSpPr>
        <p:spPr>
          <a:xfrm>
            <a:off x="502920" y="3063240"/>
            <a:ext cx="3931920" cy="745236"/>
          </a:xfrm>
          <a:prstGeom prst="roundRect">
            <a:avLst>
              <a:gd name="adj" fmla="val 6135"/>
            </a:avLst>
          </a:prstGeom>
          <a:solidFill>
            <a:srgbClr val="F1F4F8"/>
          </a:solidFill>
          <a:ln w="12700">
            <a:solidFill>
              <a:srgbClr val="D6DEE8"/>
            </a:solidFill>
            <a:prstDash val="solid"/>
          </a:ln>
        </p:spPr>
      </p:sp>
      <p:sp>
        <p:nvSpPr>
          <p:cNvPr id="9" name="Text 7"/>
          <p:cNvSpPr txBox="1"/>
          <p:nvPr/>
        </p:nvSpPr>
        <p:spPr>
          <a:xfrm>
            <a:off x="630936" y="3136392"/>
            <a:ext cx="3675888" cy="598932"/>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renv::init()      # start</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renv::snapshot()  # record</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renv::restore()   # match</a:t>
            </a:r>
            <a:endParaRPr lang="en-US" sz="1100" dirty="0"/>
          </a:p>
        </p:txBody>
      </p:sp>
      <p:sp>
        <p:nvSpPr>
          <p:cNvPr id="10" name="Text 8"/>
          <p:cNvSpPr txBox="1"/>
          <p:nvPr/>
        </p:nvSpPr>
        <p:spPr>
          <a:xfrm>
            <a:off x="4709160" y="1024128"/>
            <a:ext cx="3931920" cy="274320"/>
          </a:xfrm>
          <a:prstGeom prst="rect">
            <a:avLst/>
          </a:prstGeom>
          <a:noFill/>
          <a:ln/>
        </p:spPr>
        <p:txBody>
          <a:bodyPr wrap="square" lIns="0" tIns="0" rIns="0" bIns="0" rtlCol="0" anchor="ctr"/>
          <a:lstStyle/>
          <a:p>
            <a:pPr marL="0" indent="0">
              <a:buNone/>
            </a:pPr>
            <a:r>
              <a:rPr lang="en-US" sz="1500" b="1" dirty="0">
                <a:solidFill>
                  <a:srgbClr val="2E75B6"/>
                </a:solidFill>
                <a:latin typeface="Arial" pitchFamily="34" charset="0"/>
                <a:ea typeface="Arial" pitchFamily="34" charset="-122"/>
                <a:cs typeface="Arial" pitchFamily="34" charset="-120"/>
              </a:rPr>
              <a:t>Paths that travel</a:t>
            </a:r>
            <a:endParaRPr lang="en-US" sz="1500" dirty="0"/>
          </a:p>
        </p:txBody>
      </p:sp>
      <p:sp>
        <p:nvSpPr>
          <p:cNvPr id="11" name="Shape 9"/>
          <p:cNvSpPr/>
          <p:nvPr/>
        </p:nvSpPr>
        <p:spPr>
          <a:xfrm>
            <a:off x="4709160" y="1325880"/>
            <a:ext cx="3931920" cy="745236"/>
          </a:xfrm>
          <a:prstGeom prst="roundRect">
            <a:avLst>
              <a:gd name="adj" fmla="val 6135"/>
            </a:avLst>
          </a:prstGeom>
          <a:solidFill>
            <a:srgbClr val="F1F4F8"/>
          </a:solidFill>
          <a:ln w="12700">
            <a:solidFill>
              <a:srgbClr val="D6DEE8"/>
            </a:solidFill>
            <a:prstDash val="solid"/>
          </a:ln>
        </p:spPr>
      </p:sp>
      <p:sp>
        <p:nvSpPr>
          <p:cNvPr id="12" name="Text 10"/>
          <p:cNvSpPr txBox="1"/>
          <p:nvPr/>
        </p:nvSpPr>
        <p:spPr>
          <a:xfrm>
            <a:off x="4837176" y="1399032"/>
            <a:ext cx="3675888" cy="598932"/>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library(here)</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here("data", "raw", "x.csv")</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 never setwd()</a:t>
            </a:r>
            <a:endParaRPr lang="en-US" sz="1100" dirty="0"/>
          </a:p>
        </p:txBody>
      </p:sp>
      <p:sp>
        <p:nvSpPr>
          <p:cNvPr id="13" name="Text 11"/>
          <p:cNvSpPr txBox="1"/>
          <p:nvPr/>
        </p:nvSpPr>
        <p:spPr>
          <a:xfrm>
            <a:off x="4709160" y="2487168"/>
            <a:ext cx="3931920" cy="274320"/>
          </a:xfrm>
          <a:prstGeom prst="rect">
            <a:avLst/>
          </a:prstGeom>
          <a:noFill/>
          <a:ln/>
        </p:spPr>
        <p:txBody>
          <a:bodyPr wrap="square" lIns="0" tIns="0" rIns="0" bIns="0" rtlCol="0" anchor="ctr"/>
          <a:lstStyle/>
          <a:p>
            <a:pPr marL="0" indent="0">
              <a:buNone/>
            </a:pPr>
            <a:r>
              <a:rPr lang="en-US" sz="1500" b="1" dirty="0">
                <a:solidFill>
                  <a:srgbClr val="2E75B6"/>
                </a:solidFill>
                <a:latin typeface="Arial" pitchFamily="34" charset="0"/>
                <a:ea typeface="Arial" pitchFamily="34" charset="-122"/>
                <a:cs typeface="Arial" pitchFamily="34" charset="-120"/>
              </a:rPr>
              <a:t>Render</a:t>
            </a:r>
            <a:endParaRPr lang="en-US" sz="1500" dirty="0"/>
          </a:p>
        </p:txBody>
      </p:sp>
      <p:sp>
        <p:nvSpPr>
          <p:cNvPr id="14" name="Shape 12"/>
          <p:cNvSpPr/>
          <p:nvPr/>
        </p:nvSpPr>
        <p:spPr>
          <a:xfrm>
            <a:off x="4709160" y="2788920"/>
            <a:ext cx="3931920" cy="745236"/>
          </a:xfrm>
          <a:prstGeom prst="roundRect">
            <a:avLst>
              <a:gd name="adj" fmla="val 6135"/>
            </a:avLst>
          </a:prstGeom>
          <a:solidFill>
            <a:srgbClr val="F1F4F8"/>
          </a:solidFill>
          <a:ln w="12700">
            <a:solidFill>
              <a:srgbClr val="D6DEE8"/>
            </a:solidFill>
            <a:prstDash val="solid"/>
          </a:ln>
        </p:spPr>
      </p:sp>
      <p:sp>
        <p:nvSpPr>
          <p:cNvPr id="15" name="Text 13"/>
          <p:cNvSpPr txBox="1"/>
          <p:nvPr/>
        </p:nvSpPr>
        <p:spPr>
          <a:xfrm>
            <a:off x="4837176" y="2862072"/>
            <a:ext cx="3675888" cy="598932"/>
          </a:xfrm>
          <a:prstGeom prst="rect">
            <a:avLst/>
          </a:prstGeom>
          <a:noFill/>
          <a:ln/>
        </p:spPr>
        <p:txBody>
          <a:bodyPr wrap="square" lIns="0" tIns="0" rIns="0" bIns="0" rtlCol="0" anchor="ctr"/>
          <a:lstStyle/>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quarto render report.qmd</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quarto render report.qmd --to docx</a:t>
            </a:r>
            <a:endParaRPr lang="en-US" sz="1100" dirty="0"/>
          </a:p>
          <a:p>
            <a:pPr marL="0" indent="0">
              <a:lnSpc>
                <a:spcPct val="115000"/>
              </a:lnSpc>
              <a:buNone/>
            </a:pPr>
            <a:r>
              <a:rPr lang="en-US" sz="1100" dirty="0">
                <a:solidFill>
                  <a:srgbClr val="2D2D2D"/>
                </a:solidFill>
                <a:latin typeface="Courier New" pitchFamily="34" charset="0"/>
                <a:ea typeface="Courier New" pitchFamily="34" charset="-122"/>
                <a:cs typeface="Courier New" pitchFamily="34" charset="-120"/>
              </a:rPr>
              <a:t>quarto install tinytex   # for PDF</a:t>
            </a:r>
            <a:endParaRPr lang="en-US" sz="1100" dirty="0"/>
          </a:p>
        </p:txBody>
      </p:sp>
      <p:sp>
        <p:nvSpPr>
          <p:cNvPr id="16" name="Text 14"/>
          <p:cNvSpPr txBox="1"/>
          <p:nvPr/>
        </p:nvSpPr>
        <p:spPr>
          <a:xfrm>
            <a:off x="502920" y="4160520"/>
            <a:ext cx="8138160" cy="365760"/>
          </a:xfrm>
          <a:prstGeom prst="rect">
            <a:avLst/>
          </a:prstGeom>
          <a:noFill/>
          <a:ln/>
        </p:spPr>
        <p:txBody>
          <a:bodyPr wrap="square" lIns="0" tIns="0" rIns="0" bIns="0" rtlCol="0" anchor="ctr"/>
          <a:lstStyle/>
          <a:p>
            <a:pPr marL="0" indent="0">
              <a:buNone/>
            </a:pPr>
            <a:r>
              <a:rPr lang="en-US" sz="1250" dirty="0">
                <a:solidFill>
                  <a:srgbClr val="777777"/>
                </a:solidFill>
                <a:latin typeface="Arial" pitchFamily="34" charset="0"/>
                <a:ea typeface="Arial" pitchFamily="34" charset="-122"/>
                <a:cs typeface="Arial" pitchFamily="34" charset="-120"/>
              </a:rPr>
              <a:t>A suggested .gitignore: outputs/, data/raw/ (if large), renv/library/, .Rhistory, .RData, *.html, *.pdf</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164592"/>
            <a:ext cx="8138160" cy="320040"/>
          </a:xfrm>
          <a:prstGeom prst="rect">
            <a:avLst/>
          </a:prstGeom>
          <a:noFill/>
          <a:ln/>
        </p:spPr>
        <p:txBody>
          <a:bodyPr wrap="square" lIns="0" tIns="0" rIns="0" bIns="0" rtlCol="0" anchor="ctr"/>
          <a:lstStyle/>
          <a:p>
            <a:pPr marL="0" indent="0">
              <a:buNone/>
            </a:pPr>
            <a:r>
              <a:rPr lang="en-US" sz="1400" i="1" dirty="0">
                <a:solidFill>
                  <a:srgbClr val="777777"/>
                </a:solidFill>
                <a:latin typeface="Arial" pitchFamily="34" charset="0"/>
                <a:ea typeface="Arial" pitchFamily="34" charset="-122"/>
                <a:cs typeface="Arial" pitchFamily="34" charset="-120"/>
              </a:rPr>
              <a:t>Appendix B — When the render fails</a:t>
            </a:r>
            <a:endParaRPr lang="en-US" sz="1400" dirty="0"/>
          </a:p>
        </p:txBody>
      </p:sp>
      <p:sp>
        <p:nvSpPr>
          <p:cNvPr id="3" name="Text 1"/>
          <p:cNvSpPr txBox="1"/>
          <p:nvPr/>
        </p:nvSpPr>
        <p:spPr>
          <a:xfrm>
            <a:off x="502920" y="502920"/>
            <a:ext cx="8138160" cy="384048"/>
          </a:xfrm>
          <a:prstGeom prst="rect">
            <a:avLst/>
          </a:prstGeom>
          <a:noFill/>
          <a:ln/>
        </p:spPr>
        <p:txBody>
          <a:bodyPr wrap="square" lIns="0" tIns="0" rIns="0" bIns="0" rtlCol="0" anchor="ctr"/>
          <a:lstStyle/>
          <a:p>
            <a:pPr marL="0" indent="0">
              <a:buNone/>
            </a:pPr>
            <a:r>
              <a:rPr lang="en-US" sz="2200" b="1" dirty="0">
                <a:solidFill>
                  <a:srgbClr val="1F4E79"/>
                </a:solidFill>
                <a:latin typeface="Arial" pitchFamily="34" charset="0"/>
                <a:ea typeface="Arial" pitchFamily="34" charset="-122"/>
                <a:cs typeface="Arial" pitchFamily="34" charset="-120"/>
              </a:rPr>
              <a:t>Six failures you will meet, and what each one actually means</a:t>
            </a:r>
            <a:endParaRPr lang="en-US" sz="2200" dirty="0"/>
          </a:p>
        </p:txBody>
      </p:sp>
      <p:sp>
        <p:nvSpPr>
          <p:cNvPr id="4" name="Shape 2"/>
          <p:cNvSpPr/>
          <p:nvPr/>
        </p:nvSpPr>
        <p:spPr>
          <a:xfrm>
            <a:off x="502920" y="1060704"/>
            <a:ext cx="3200400" cy="493776"/>
          </a:xfrm>
          <a:prstGeom prst="roundRect">
            <a:avLst>
              <a:gd name="adj" fmla="val 9259"/>
            </a:avLst>
          </a:prstGeom>
          <a:solidFill>
            <a:srgbClr val="F1F4F8"/>
          </a:solidFill>
          <a:ln w="12700">
            <a:solidFill>
              <a:srgbClr val="D6DEE8"/>
            </a:solidFill>
            <a:prstDash val="solid"/>
          </a:ln>
        </p:spPr>
      </p:sp>
      <p:sp>
        <p:nvSpPr>
          <p:cNvPr id="5" name="Text 3"/>
          <p:cNvSpPr txBox="1"/>
          <p:nvPr/>
        </p:nvSpPr>
        <p:spPr>
          <a:xfrm>
            <a:off x="612648" y="1060704"/>
            <a:ext cx="2980944" cy="493776"/>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"cannot open file ..."</a:t>
            </a:r>
            <a:endParaRPr lang="en-US" sz="1200" dirty="0"/>
          </a:p>
        </p:txBody>
      </p:sp>
      <p:sp>
        <p:nvSpPr>
          <p:cNvPr id="6" name="Text 4"/>
          <p:cNvSpPr txBox="1"/>
          <p:nvPr/>
        </p:nvSpPr>
        <p:spPr>
          <a:xfrm>
            <a:off x="3886200" y="1060704"/>
            <a:ext cx="4754880" cy="493776"/>
          </a:xfrm>
          <a:prstGeom prst="rect">
            <a:avLst/>
          </a:prstGeom>
          <a:noFill/>
          <a:ln/>
        </p:spPr>
        <p:txBody>
          <a:bodyPr wrap="square" lIns="0" tIns="0" rIns="0" bIns="0" rtlCol="0" anchor="ctr"/>
          <a:lstStyle/>
          <a:p>
            <a:pPr marL="0" indent="0">
              <a:buNone/>
            </a:pPr>
            <a:r>
              <a:rPr lang="en-US" sz="1350" dirty="0">
                <a:solidFill>
                  <a:srgbClr val="2D2D2D"/>
                </a:solidFill>
                <a:latin typeface="Arial" pitchFamily="34" charset="0"/>
                <a:ea typeface="Arial" pitchFamily="34" charset="-122"/>
                <a:cs typeface="Arial" pitchFamily="34" charset="-120"/>
              </a:rPr>
              <a:t>A path is wrong. Wrap it in </a:t>
            </a:r>
            <a:r>
              <a:rPr lang="en-US" sz="1350" dirty="0">
                <a:solidFill>
                  <a:srgbClr val="0000FF"/>
                </a:solidFill>
                <a:latin typeface="Arial" pitchFamily="34" charset="0"/>
                <a:ea typeface="Arial" pitchFamily="34" charset="-122"/>
                <a:cs typeface="Arial" pitchFamily="34" charset="-120"/>
              </a:rPr>
              <a:t>here()</a:t>
            </a:r>
            <a:r>
              <a:rPr lang="en-US" sz="1350" dirty="0">
                <a:solidFill>
                  <a:srgbClr val="2D2D2D"/>
                </a:solidFill>
                <a:latin typeface="Arial" pitchFamily="34" charset="0"/>
                <a:ea typeface="Arial" pitchFamily="34" charset="-122"/>
                <a:cs typeface="Arial" pitchFamily="34" charset="-120"/>
              </a:rPr>
              <a:t> and check you are inside the Project.</a:t>
            </a:r>
            <a:endParaRPr lang="en-US" sz="1350" dirty="0"/>
          </a:p>
        </p:txBody>
      </p:sp>
      <p:sp>
        <p:nvSpPr>
          <p:cNvPr id="7" name="Shape 5"/>
          <p:cNvSpPr/>
          <p:nvPr/>
        </p:nvSpPr>
        <p:spPr>
          <a:xfrm>
            <a:off x="502920" y="1682496"/>
            <a:ext cx="3200400" cy="493776"/>
          </a:xfrm>
          <a:prstGeom prst="roundRect">
            <a:avLst>
              <a:gd name="adj" fmla="val 9259"/>
            </a:avLst>
          </a:prstGeom>
          <a:solidFill>
            <a:srgbClr val="F1F4F8"/>
          </a:solidFill>
          <a:ln w="12700">
            <a:solidFill>
              <a:srgbClr val="D6DEE8"/>
            </a:solidFill>
            <a:prstDash val="solid"/>
          </a:ln>
        </p:spPr>
      </p:sp>
      <p:sp>
        <p:nvSpPr>
          <p:cNvPr id="8" name="Text 6"/>
          <p:cNvSpPr txBox="1"/>
          <p:nvPr/>
        </p:nvSpPr>
        <p:spPr>
          <a:xfrm>
            <a:off x="612648" y="1682496"/>
            <a:ext cx="2980944" cy="493776"/>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"object 'sales' not found"</a:t>
            </a:r>
            <a:endParaRPr lang="en-US" sz="1200" dirty="0"/>
          </a:p>
        </p:txBody>
      </p:sp>
      <p:sp>
        <p:nvSpPr>
          <p:cNvPr id="9" name="Text 7"/>
          <p:cNvSpPr txBox="1"/>
          <p:nvPr/>
        </p:nvSpPr>
        <p:spPr>
          <a:xfrm>
            <a:off x="3886200" y="1682496"/>
            <a:ext cx="4754880" cy="493776"/>
          </a:xfrm>
          <a:prstGeom prst="rect">
            <a:avLst/>
          </a:prstGeom>
          <a:noFill/>
          <a:ln/>
        </p:spPr>
        <p:txBody>
          <a:bodyPr wrap="square" lIns="0" tIns="0" rIns="0" bIns="0" rtlCol="0" anchor="ctr"/>
          <a:lstStyle/>
          <a:p>
            <a:pPr marL="0" indent="0">
              <a:buNone/>
            </a:pPr>
            <a:r>
              <a:rPr lang="en-US" sz="1350" dirty="0">
                <a:solidFill>
                  <a:srgbClr val="2D2D2D"/>
                </a:solidFill>
                <a:latin typeface="Arial" pitchFamily="34" charset="0"/>
                <a:ea typeface="Arial" pitchFamily="34" charset="-122"/>
                <a:cs typeface="Arial" pitchFamily="34" charset="-120"/>
              </a:rPr>
              <a:t>The object lived in your memory, not in the file. The classic notebook trap: dependable file, run chunk in order.</a:t>
            </a:r>
            <a:endParaRPr lang="en-US" sz="1350" dirty="0"/>
          </a:p>
        </p:txBody>
      </p:sp>
      <p:sp>
        <p:nvSpPr>
          <p:cNvPr id="10" name="Shape 8"/>
          <p:cNvSpPr/>
          <p:nvPr/>
        </p:nvSpPr>
        <p:spPr>
          <a:xfrm>
            <a:off x="502920" y="2304288"/>
            <a:ext cx="3200400" cy="493776"/>
          </a:xfrm>
          <a:prstGeom prst="roundRect">
            <a:avLst>
              <a:gd name="adj" fmla="val 9259"/>
            </a:avLst>
          </a:prstGeom>
          <a:solidFill>
            <a:srgbClr val="F1F4F8"/>
          </a:solidFill>
          <a:ln w="12700">
            <a:solidFill>
              <a:srgbClr val="D6DEE8"/>
            </a:solidFill>
            <a:prstDash val="solid"/>
          </a:ln>
        </p:spPr>
      </p:sp>
      <p:sp>
        <p:nvSpPr>
          <p:cNvPr id="11" name="Text 9"/>
          <p:cNvSpPr txBox="1"/>
          <p:nvPr/>
        </p:nvSpPr>
        <p:spPr>
          <a:xfrm>
            <a:off x="612648" y="2304288"/>
            <a:ext cx="2980944" cy="493776"/>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PDF render fails on LaTeX</a:t>
            </a:r>
            <a:endParaRPr lang="en-US" sz="1200" dirty="0"/>
          </a:p>
        </p:txBody>
      </p:sp>
      <p:sp>
        <p:nvSpPr>
          <p:cNvPr id="12" name="Text 10"/>
          <p:cNvSpPr txBox="1"/>
          <p:nvPr/>
        </p:nvSpPr>
        <p:spPr>
          <a:xfrm>
            <a:off x="3886200" y="2304288"/>
            <a:ext cx="4754880" cy="493776"/>
          </a:xfrm>
          <a:prstGeom prst="rect">
            <a:avLst/>
          </a:prstGeom>
          <a:noFill/>
          <a:ln/>
        </p:spPr>
        <p:txBody>
          <a:bodyPr wrap="square" lIns="0" tIns="0" rIns="0" bIns="0" rtlCol="0" anchor="ctr"/>
          <a:lstStyle/>
          <a:p>
            <a:pPr marL="0" indent="0">
              <a:buNone/>
            </a:pPr>
            <a:r>
              <a:rPr lang="en-US" sz="1350" dirty="0">
                <a:solidFill>
                  <a:srgbClr val="2D2D2D"/>
                </a:solidFill>
                <a:latin typeface="Arial" pitchFamily="34" charset="0"/>
                <a:ea typeface="Arial" pitchFamily="34" charset="-122"/>
                <a:cs typeface="Arial" pitchFamily="34" charset="-120"/>
              </a:rPr>
              <a:t>Run </a:t>
            </a:r>
            <a:r>
              <a:rPr lang="en-US" sz="1350" dirty="0">
                <a:solidFill>
                  <a:srgbClr val="0000FF"/>
                </a:solidFill>
                <a:latin typeface="Arial" pitchFamily="34" charset="0"/>
                <a:ea typeface="Arial" pitchFamily="34" charset="-122"/>
                <a:cs typeface="Arial" pitchFamily="34" charset="-120"/>
              </a:rPr>
              <a:t>quarto install tinytex</a:t>
            </a:r>
            <a:r>
              <a:rPr lang="en-US" sz="1350" dirty="0">
                <a:solidFill>
                  <a:srgbClr val="2D2D2D"/>
                </a:solidFill>
                <a:latin typeface="Arial" pitchFamily="34" charset="0"/>
                <a:ea typeface="Arial" pitchFamily="34" charset="-122"/>
                <a:cs typeface="Arial" pitchFamily="34" charset="-120"/>
              </a:rPr>
              <a:t> once, then render again.</a:t>
            </a:r>
            <a:endParaRPr lang="en-US" sz="1350" dirty="0"/>
          </a:p>
        </p:txBody>
      </p:sp>
      <p:sp>
        <p:nvSpPr>
          <p:cNvPr id="13" name="Shape 11"/>
          <p:cNvSpPr/>
          <p:nvPr/>
        </p:nvSpPr>
        <p:spPr>
          <a:xfrm>
            <a:off x="502920" y="2926080"/>
            <a:ext cx="3200400" cy="493776"/>
          </a:xfrm>
          <a:prstGeom prst="roundRect">
            <a:avLst>
              <a:gd name="adj" fmla="val 9259"/>
            </a:avLst>
          </a:prstGeom>
          <a:solidFill>
            <a:srgbClr val="F1F4F8"/>
          </a:solidFill>
          <a:ln w="12700">
            <a:solidFill>
              <a:srgbClr val="D6DEE8"/>
            </a:solidFill>
            <a:prstDash val="solid"/>
          </a:ln>
        </p:spPr>
      </p:sp>
      <p:sp>
        <p:nvSpPr>
          <p:cNvPr id="14" name="Text 12"/>
          <p:cNvSpPr txBox="1"/>
          <p:nvPr/>
        </p:nvSpPr>
        <p:spPr>
          <a:xfrm>
            <a:off x="612648" y="2926080"/>
            <a:ext cx="2980944" cy="493776"/>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"there is no package called ..."</a:t>
            </a:r>
            <a:endParaRPr lang="en-US" sz="1200" dirty="0"/>
          </a:p>
        </p:txBody>
      </p:sp>
      <p:sp>
        <p:nvSpPr>
          <p:cNvPr id="15" name="Text 13"/>
          <p:cNvSpPr txBox="1"/>
          <p:nvPr/>
        </p:nvSpPr>
        <p:spPr>
          <a:xfrm>
            <a:off x="3886200" y="2926080"/>
            <a:ext cx="4754880" cy="493776"/>
          </a:xfrm>
          <a:prstGeom prst="rect">
            <a:avLst/>
          </a:prstGeom>
          <a:noFill/>
          <a:ln/>
        </p:spPr>
        <p:txBody>
          <a:bodyPr wrap="square" lIns="0" tIns="0" rIns="0" bIns="0" rtlCol="0" anchor="ctr"/>
          <a:lstStyle/>
          <a:p>
            <a:r>
              <a:rPr lang="en-US" sz="1350" dirty="0">
                <a:solidFill>
                  <a:srgbClr val="2D2D2D"/>
                </a:solidFill>
                <a:latin typeface="Arial" pitchFamily="34" charset="0"/>
                <a:ea typeface="Arial" pitchFamily="34" charset="-122"/>
                <a:cs typeface="Arial" pitchFamily="34" charset="-120"/>
              </a:rPr>
              <a:t>Missing dependency. Install it </a:t>
            </a:r>
            <a:r>
              <a:rPr lang="en-US" sz="1350" dirty="0" err="1">
                <a:solidFill>
                  <a:srgbClr val="0000FF"/>
                </a:solidFill>
                <a:latin typeface="Arial" pitchFamily="34" charset="0"/>
                <a:ea typeface="Arial" pitchFamily="34" charset="-122"/>
                <a:cs typeface="Arial" pitchFamily="34" charset="-120"/>
              </a:rPr>
              <a:t>install.packages</a:t>
            </a:r>
            <a:r>
              <a:rPr lang="en-US" sz="1350" dirty="0">
                <a:solidFill>
                  <a:srgbClr val="0000FF"/>
                </a:solidFill>
                <a:latin typeface="Arial" pitchFamily="34" charset="0"/>
                <a:ea typeface="Arial" pitchFamily="34" charset="-122"/>
                <a:cs typeface="Arial" pitchFamily="34" charset="-120"/>
              </a:rPr>
              <a:t>("</a:t>
            </a:r>
            <a:r>
              <a:rPr lang="en-US" sz="1350" dirty="0" err="1">
                <a:solidFill>
                  <a:srgbClr val="0000FF"/>
                </a:solidFill>
                <a:latin typeface="Arial" pitchFamily="34" charset="0"/>
                <a:ea typeface="Arial" pitchFamily="34" charset="-122"/>
                <a:cs typeface="Arial" pitchFamily="34" charset="-120"/>
              </a:rPr>
              <a:t>package_name</a:t>
            </a:r>
            <a:r>
              <a:rPr lang="en-US" sz="1350" dirty="0">
                <a:solidFill>
                  <a:srgbClr val="0000FF"/>
                </a:solidFill>
                <a:latin typeface="Arial" pitchFamily="34" charset="0"/>
                <a:ea typeface="Arial" pitchFamily="34" charset="-122"/>
                <a:cs typeface="Arial" pitchFamily="34" charset="-120"/>
              </a:rPr>
              <a:t>")</a:t>
            </a:r>
            <a:r>
              <a:rPr lang="en-US" sz="1350" dirty="0">
                <a:solidFill>
                  <a:srgbClr val="2D2D2D"/>
                </a:solidFill>
                <a:latin typeface="Arial" pitchFamily="34" charset="0"/>
                <a:ea typeface="Arial" pitchFamily="34" charset="-122"/>
                <a:cs typeface="Arial" pitchFamily="34" charset="-120"/>
              </a:rPr>
              <a:t>, then renv::snapshot() so others get it too.</a:t>
            </a:r>
            <a:endParaRPr lang="en-US" sz="1350" dirty="0"/>
          </a:p>
        </p:txBody>
      </p:sp>
      <p:sp>
        <p:nvSpPr>
          <p:cNvPr id="16" name="Shape 14"/>
          <p:cNvSpPr/>
          <p:nvPr/>
        </p:nvSpPr>
        <p:spPr>
          <a:xfrm>
            <a:off x="502920" y="3547872"/>
            <a:ext cx="3200400" cy="493776"/>
          </a:xfrm>
          <a:prstGeom prst="roundRect">
            <a:avLst>
              <a:gd name="adj" fmla="val 9259"/>
            </a:avLst>
          </a:prstGeom>
          <a:solidFill>
            <a:srgbClr val="F1F4F8"/>
          </a:solidFill>
          <a:ln w="12700">
            <a:solidFill>
              <a:srgbClr val="D6DEE8"/>
            </a:solidFill>
            <a:prstDash val="solid"/>
          </a:ln>
        </p:spPr>
      </p:sp>
      <p:sp>
        <p:nvSpPr>
          <p:cNvPr id="17" name="Text 15"/>
          <p:cNvSpPr txBox="1"/>
          <p:nvPr/>
        </p:nvSpPr>
        <p:spPr>
          <a:xfrm>
            <a:off x="612648" y="3547872"/>
            <a:ext cx="2980944" cy="493776"/>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Renders for you, not a teammate</a:t>
            </a:r>
            <a:endParaRPr lang="en-US" sz="1200" dirty="0"/>
          </a:p>
        </p:txBody>
      </p:sp>
      <p:sp>
        <p:nvSpPr>
          <p:cNvPr id="18" name="Text 16"/>
          <p:cNvSpPr txBox="1"/>
          <p:nvPr/>
        </p:nvSpPr>
        <p:spPr>
          <a:xfrm>
            <a:off x="3886200" y="3547872"/>
            <a:ext cx="4754880" cy="493776"/>
          </a:xfrm>
          <a:prstGeom prst="rect">
            <a:avLst/>
          </a:prstGeom>
          <a:noFill/>
          <a:ln/>
        </p:spPr>
        <p:txBody>
          <a:bodyPr wrap="square" lIns="0" tIns="0" rIns="0" bIns="0" rtlCol="0" anchor="ctr"/>
          <a:lstStyle/>
          <a:p>
            <a:pPr marL="0" indent="0">
              <a:buNone/>
            </a:pPr>
            <a:r>
              <a:rPr lang="en-US" sz="1350" dirty="0">
                <a:solidFill>
                  <a:srgbClr val="2D2D2D"/>
                </a:solidFill>
                <a:latin typeface="Arial" pitchFamily="34" charset="0"/>
                <a:ea typeface="Arial" pitchFamily="34" charset="-122"/>
                <a:cs typeface="Arial" pitchFamily="34" charset="-120"/>
              </a:rPr>
              <a:t>Something is outside the project folder, or missing from renv.lock.</a:t>
            </a:r>
            <a:endParaRPr lang="en-US" sz="1350" dirty="0"/>
          </a:p>
        </p:txBody>
      </p:sp>
      <p:sp>
        <p:nvSpPr>
          <p:cNvPr id="19" name="Shape 17"/>
          <p:cNvSpPr/>
          <p:nvPr/>
        </p:nvSpPr>
        <p:spPr>
          <a:xfrm>
            <a:off x="502920" y="4169664"/>
            <a:ext cx="3200400" cy="493776"/>
          </a:xfrm>
          <a:prstGeom prst="roundRect">
            <a:avLst>
              <a:gd name="adj" fmla="val 9259"/>
            </a:avLst>
          </a:prstGeom>
          <a:solidFill>
            <a:srgbClr val="F1F4F8"/>
          </a:solidFill>
          <a:ln w="12700">
            <a:solidFill>
              <a:srgbClr val="D6DEE8"/>
            </a:solidFill>
            <a:prstDash val="solid"/>
          </a:ln>
        </p:spPr>
      </p:sp>
      <p:sp>
        <p:nvSpPr>
          <p:cNvPr id="20" name="Text 18"/>
          <p:cNvSpPr txBox="1"/>
          <p:nvPr/>
        </p:nvSpPr>
        <p:spPr>
          <a:xfrm>
            <a:off x="612648" y="4169664"/>
            <a:ext cx="2980944" cy="493776"/>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Git shows huge diffs on output</a:t>
            </a:r>
            <a:endParaRPr lang="en-US" sz="1200" dirty="0"/>
          </a:p>
        </p:txBody>
      </p:sp>
      <p:sp>
        <p:nvSpPr>
          <p:cNvPr id="21" name="Text 19"/>
          <p:cNvSpPr txBox="1"/>
          <p:nvPr/>
        </p:nvSpPr>
        <p:spPr>
          <a:xfrm>
            <a:off x="3886200" y="4169664"/>
            <a:ext cx="4754880" cy="493776"/>
          </a:xfrm>
          <a:prstGeom prst="rect">
            <a:avLst/>
          </a:prstGeom>
          <a:noFill/>
          <a:ln/>
        </p:spPr>
        <p:txBody>
          <a:bodyPr wrap="square" lIns="0" tIns="0" rIns="0" bIns="0" rtlCol="0" anchor="ctr"/>
          <a:lstStyle/>
          <a:p>
            <a:pPr marL="0" indent="0">
              <a:buNone/>
            </a:pPr>
            <a:r>
              <a:rPr lang="en-US" sz="1350" dirty="0">
                <a:solidFill>
                  <a:srgbClr val="2D2D2D"/>
                </a:solidFill>
                <a:latin typeface="Arial" pitchFamily="34" charset="0"/>
                <a:ea typeface="Arial" pitchFamily="34" charset="-122"/>
                <a:cs typeface="Arial" pitchFamily="34" charset="-120"/>
              </a:rPr>
              <a:t>You committed rendered files. Gitignore them; commit only the source.</a:t>
            </a:r>
            <a:endParaRPr lang="en-US" sz="1350" dirty="0"/>
          </a:p>
        </p:txBody>
      </p:sp>
      <p:sp>
        <p:nvSpPr>
          <p:cNvPr id="22" name="Text 20"/>
          <p:cNvSpPr txBox="1"/>
          <p:nvPr/>
        </p:nvSpPr>
        <p:spPr>
          <a:xfrm>
            <a:off x="502920" y="4681728"/>
            <a:ext cx="8138160" cy="292608"/>
          </a:xfrm>
          <a:prstGeom prst="rect">
            <a:avLst/>
          </a:prstGeom>
          <a:noFill/>
          <a:ln/>
        </p:spPr>
        <p:txBody>
          <a:bodyPr wrap="square" lIns="0" tIns="0" rIns="0" bIns="0" rtlCol="0" anchor="ctr"/>
          <a:lstStyle/>
          <a:p>
            <a:pPr marL="0" indent="0">
              <a:buNone/>
            </a:pPr>
            <a:r>
              <a:rPr lang="en-US" sz="1300" dirty="0">
                <a:solidFill>
                  <a:srgbClr val="777777"/>
                </a:solidFill>
                <a:latin typeface="Arial" pitchFamily="34" charset="0"/>
                <a:ea typeface="Arial" pitchFamily="34" charset="-122"/>
                <a:cs typeface="Arial" pitchFamily="34" charset="-120"/>
              </a:rPr>
              <a:t>Read render errors from the top: the first error is the real one, and the rest are usually consequences.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5717</Words>
  <Application>Microsoft Office PowerPoint</Application>
  <PresentationFormat>On-screen Show (16:9)</PresentationFormat>
  <Paragraphs>471</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Version Control with Git</dc:title>
  <dc:subject>PptxGenJS Presentation</dc:subject>
  <dc:creator>Course instructor</dc:creator>
  <cp:lastModifiedBy>裴典富</cp:lastModifiedBy>
  <cp:revision>46</cp:revision>
  <dcterms:created xsi:type="dcterms:W3CDTF">2026-09-01T03:35:06Z</dcterms:created>
  <dcterms:modified xsi:type="dcterms:W3CDTF">2026-09-07T01:51:24Z</dcterms:modified>
</cp:coreProperties>
</file>